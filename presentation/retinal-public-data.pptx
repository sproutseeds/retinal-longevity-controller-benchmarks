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a678b9ae4de438e" /><Relationship Type="http://schemas.openxmlformats.org/officeDocument/2006/relationships/extended-properties" Target="/docProps/app.xml" Id="R2791274dabf54dae" /><Relationship Type="http://schemas.openxmlformats.org/officeDocument/2006/relationships/officeDocument" Target="/ppt/presentation.xml" Id="Rb5fee3bf51ec4222" /></Relationships>
</file>

<file path=ppt/presentation.xml><?xml version="1.0" encoding="utf-8"?>
<p:presentation xmlns:p="http://schemas.openxmlformats.org/presentationml/2006/main">
  <p:sldMasterIdLst>
    <p:sldMasterId xmlns:r="http://schemas.openxmlformats.org/officeDocument/2006/relationships" id="2147483648" r:id="Rce22666f0fe04075"/>
  </p:sldMasterIdLst>
  <p:notesMasterIdLst>
    <p:notesMasterId xmlns:r="http://schemas.openxmlformats.org/officeDocument/2006/relationships" r:id="Rc474b3350e1f4ac5"/>
  </p:notesMasterIdLst>
  <p:sldIdLst>
    <p:sldId xmlns:r="http://schemas.openxmlformats.org/officeDocument/2006/relationships" id="256" r:id="R2d01a88d9781470d"/>
    <p:sldId xmlns:r="http://schemas.openxmlformats.org/officeDocument/2006/relationships" id="257" r:id="R5bd9e8a98b5e4606"/>
    <p:sldId xmlns:r="http://schemas.openxmlformats.org/officeDocument/2006/relationships" id="258" r:id="R5508cf8cbef941aa"/>
    <p:sldId xmlns:r="http://schemas.openxmlformats.org/officeDocument/2006/relationships" id="259" r:id="R47708cf0ea6c418c"/>
    <p:sldId xmlns:r="http://schemas.openxmlformats.org/officeDocument/2006/relationships" id="260" r:id="Rd30a1652071b4341"/>
    <p:sldId xmlns:r="http://schemas.openxmlformats.org/officeDocument/2006/relationships" id="261" r:id="Rc791cb5b06b94c96"/>
    <p:sldId xmlns:r="http://schemas.openxmlformats.org/officeDocument/2006/relationships" id="262" r:id="R86081685c2b544ab"/>
    <p:sldId xmlns:r="http://schemas.openxmlformats.org/officeDocument/2006/relationships" id="263" r:id="Re6a53e1b960a4814"/>
    <p:sldId xmlns:r="http://schemas.openxmlformats.org/officeDocument/2006/relationships" id="264" r:id="R8ef47e158efd433d"/>
    <p:sldId xmlns:r="http://schemas.openxmlformats.org/officeDocument/2006/relationships" id="265" r:id="R3513b330ea984c36"/>
    <p:sldId xmlns:r="http://schemas.openxmlformats.org/officeDocument/2006/relationships" id="266" r:id="Rb71b2113cb4b45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9a43d1e80e4932" /><Relationship Type="http://schemas.openxmlformats.org/officeDocument/2006/relationships/slideMaster" Target="/ppt/slideMasters/slideMaster1.xml" Id="Rce22666f0fe04075" /><Relationship Type="http://schemas.openxmlformats.org/officeDocument/2006/relationships/notesMaster" Target="/ppt/notesMasters/notesMaster1.xml" Id="Rc474b3350e1f4ac5" /><Relationship Type="http://schemas.openxmlformats.org/officeDocument/2006/relationships/presProps" Target="/ppt/presProps.xml" Id="Rf497337aff5c402b" /><Relationship Type="http://schemas.openxmlformats.org/officeDocument/2006/relationships/tableStyles" Target="/ppt/tableStyles.xml" Id="R5505933674284345" /><Relationship Type="http://schemas.openxmlformats.org/officeDocument/2006/relationships/slide" Target="/ppt/slides/slide1.xml" Id="R2d01a88d9781470d" /><Relationship Type="http://schemas.openxmlformats.org/officeDocument/2006/relationships/slide" Target="/ppt/slides/slide2.xml" Id="R5bd9e8a98b5e4606" /><Relationship Type="http://schemas.openxmlformats.org/officeDocument/2006/relationships/slide" Target="/ppt/slides/slide3.xml" Id="R5508cf8cbef941aa" /><Relationship Type="http://schemas.openxmlformats.org/officeDocument/2006/relationships/slide" Target="/ppt/slides/slide4.xml" Id="R47708cf0ea6c418c" /><Relationship Type="http://schemas.openxmlformats.org/officeDocument/2006/relationships/slide" Target="/ppt/slides/slide5.xml" Id="Rd30a1652071b4341" /><Relationship Type="http://schemas.openxmlformats.org/officeDocument/2006/relationships/slide" Target="/ppt/slides/slide6.xml" Id="Rc791cb5b06b94c96" /><Relationship Type="http://schemas.openxmlformats.org/officeDocument/2006/relationships/slide" Target="/ppt/slides/slide7.xml" Id="R86081685c2b544ab" /><Relationship Type="http://schemas.openxmlformats.org/officeDocument/2006/relationships/slide" Target="/ppt/slides/slide8.xml" Id="Re6a53e1b960a4814" /><Relationship Type="http://schemas.openxmlformats.org/officeDocument/2006/relationships/slide" Target="/ppt/slides/slide9.xml" Id="R8ef47e158efd433d" /><Relationship Type="http://schemas.openxmlformats.org/officeDocument/2006/relationships/slide" Target="/ppt/slides/slide10.xml" Id="R3513b330ea984c36" /><Relationship Type="http://schemas.openxmlformats.org/officeDocument/2006/relationships/slide" Target="/ppt/slides/slide11.xml" Id="Rb71b2113cb4b45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6946c9dfbe42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76cf8bf61a4ad0" /><Relationship Type="http://schemas.openxmlformats.org/officeDocument/2006/relationships/notesMaster" Target="/ppt/notesMasters/notesMaster1.xml" Id="R4453924730e447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dd7e32407e4d14" /><Relationship Type="http://schemas.openxmlformats.org/officeDocument/2006/relationships/notesMaster" Target="/ppt/notesMasters/notesMaster1.xml" Id="Rf5b761b15daf45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db939091f8479e" /><Relationship Type="http://schemas.openxmlformats.org/officeDocument/2006/relationships/notesMaster" Target="/ppt/notesMasters/notesMaster1.xml" Id="Rd8eb6176bb5441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f080f76b484708" /><Relationship Type="http://schemas.openxmlformats.org/officeDocument/2006/relationships/notesMaster" Target="/ppt/notesMasters/notesMaster1.xml" Id="R6a34b2397eb942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5d60a1e8274d94" /><Relationship Type="http://schemas.openxmlformats.org/officeDocument/2006/relationships/notesMaster" Target="/ppt/notesMasters/notesMaster1.xml" Id="Rddd20eb746e64e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e4020477fb4503" /><Relationship Type="http://schemas.openxmlformats.org/officeDocument/2006/relationships/notesMaster" Target="/ppt/notesMasters/notesMaster1.xml" Id="R77371f04dfb54a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8ad3d8502646c2" /><Relationship Type="http://schemas.openxmlformats.org/officeDocument/2006/relationships/notesMaster" Target="/ppt/notesMasters/notesMaster1.xml" Id="R7c64e2b47e4e45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ccd02ec41b42fe" /><Relationship Type="http://schemas.openxmlformats.org/officeDocument/2006/relationships/notesMaster" Target="/ppt/notesMasters/notesMaster1.xml" Id="Rb01d89a18f874a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687586ec7f4e62" /><Relationship Type="http://schemas.openxmlformats.org/officeDocument/2006/relationships/notesMaster" Target="/ppt/notesMasters/notesMaster1.xml" Id="R88bcacbe880844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a3b9361c534982" /><Relationship Type="http://schemas.openxmlformats.org/officeDocument/2006/relationships/notesMaster" Target="/ppt/notesMasters/notesMaster1.xml" Id="R7021d752a90443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982785f577b4778" /><Relationship Type="http://schemas.openxmlformats.org/officeDocument/2006/relationships/notesMaster" Target="/ppt/notesMasters/notesMaster1.xml" Id="R8cd3b9234ac445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to understand whether a reprogramming response can preserve adult cell identity and recover after the factors are withdrawn. I have expanded the public-data analysis, corrected assumptions against the source methods, and packaged the remaining measurement gap. The current work supports a more precise research plan. It does not establish a retinal therapy.</a:t>
            </a:r>
          </a:p>
          <a:p xmlns:a="http://schemas.openxmlformats.org/drawingml/2006/main">
            <a:r>
              <a:t/>
            </a:r>
          </a:p>
          <a:p xmlns:a="http://schemas.openxmlformats.org/drawingml/2006/main">
            <a:r>
              <a:t>Sources:</a:t>
            </a:r>
          </a:p>
          <a:p xmlns:a="http://schemas.openxmlformats.org/drawingml/2006/main">
            <a:r>
              <a:t>https://github.com/SproutSeeds/retinal-longevity-controller-benchmarks</a:t>
            </a:r>
          </a:p>
          <a:p xmlns:a="http://schemas.openxmlformats.org/drawingml/2006/main">
            <a:r>
              <a:t>https://github.com/SproutSeeds/retinal-longevity-controller-benchmarks/tree/main/research/2026-10-public-data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benchmark separates late identity, unusual states, recovery and continuity. The inspected public sources give us pieces of those answers across different experiments. They do not yet provide the matched late human trajectory needed to resolve all four. Combining unrelated files cannot create that missing observation.</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https://github.com/SproutSeeds/retinal-longevity-controller-benchmarks/tree/main/research/2026-10-public-data/source-resolution.json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teams have already generated valuable observations. Our contribution is to make those observations usable under explicit rules, test what the analyses actually show, and preserve the limits. Human fibroblasts, mouse liver and retinal pigment epithelium remain separate biological systems. The source audit includes ten priority resources and the specific missing inputs for each.</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https://github.com/SproutSeeds/retinal-longevity-controller-benchmarks/tree/main/research/2026-10-public-data/SOURCE_AUDIT.md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Recovering the supplementary methods changed a key assumption. The vectors contain two targeting guides, so our earlier single-guide dominance rule discarded intended paired-guide cells. The revised primary rule produces 208 eligible comparisons, compared with 97 under our earlier rule. This increases usable comparisons, not independent donors. The EZH2 signal moves close to zero, and the E2F3 expression-direction check fails. Exact replication still needs the original assignment table and control-vector pair map.</a:t>
            </a:r>
          </a:p>
          <a:p xmlns:a="http://schemas.openxmlformats.org/drawingml/2006/main">
            <a:r>
              <a:t/>
            </a:r>
          </a:p>
          <a:p xmlns:a="http://schemas.openxmlformats.org/drawingml/2006/main">
            <a:r>
              <a:t>Sources:</a:t>
            </a:r>
          </a:p>
          <a:p xmlns:a="http://schemas.openxmlformats.org/drawingml/2006/main">
            <a:r>
              <a:t>https://doi.org/10.1073/pnas.2515183123</a:t>
            </a:r>
          </a:p>
          <a:p xmlns:a="http://schemas.openxmlformats.org/drawingml/2006/main">
            <a:r>
              <a:t>https://doi.org/10.6084/m9.figshare.30898748</a:t>
            </a:r>
          </a:p>
          <a:p xmlns:a="http://schemas.openxmlformats.org/drawingml/2006/main">
            <a:r>
              <a:t>https://github.com/SproutSeeds/retinal-longevity-controller-benchmarks/tree/main/research/2026-10-public-data/paired-guide-results.json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mouse RPE correlation stays positive across the declared sensitivities. The recovered full text clarifies that the authors used a fitted clock with different preprocessing. Our broad expression correlation is a different endpoint, so it cannot establish whether their clock result replicates. We need the historical fitted model, reference inputs and exact animal and cohort mapping. These expression matrices also do not independently reproduce vision outcomes.</a:t>
            </a:r>
          </a:p>
          <a:p xmlns:a="http://schemas.openxmlformats.org/drawingml/2006/main">
            <a:r>
              <a:t/>
            </a:r>
          </a:p>
          <a:p xmlns:a="http://schemas.openxmlformats.org/drawingml/2006/main">
            <a:r>
              <a:t>Sources:</a:t>
            </a:r>
          </a:p>
          <a:p xmlns:a="http://schemas.openxmlformats.org/drawingml/2006/main">
            <a:r>
              <a:t>https://doi.org/10.1101/2025.08.30.673239</a:t>
            </a:r>
          </a:p>
          <a:p xmlns:a="http://schemas.openxmlformats.org/drawingml/2006/main">
            <a:r>
              <a:t>https://www.ncbi.nlm.nih.gov/geo/query/acc.cgi?acc=GSE304044</a:t>
            </a:r>
          </a:p>
          <a:p xmlns:a="http://schemas.openxmlformats.org/drawingml/2006/main">
            <a:r>
              <a:t>https://github.com/SproutSeeds/retinal-longevity-controller-benchmarks/tree/main/research/2026-10-public-data/ocular-sensitivity-results.json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fixed-panel model separates SRSF1 from its control in each of three held-out donors. Its observed AUROC is one, while depth and detected genes alone reach about 0.83. There are only three donors and repeated libraries, with experimental batch unrecorded. The result is a treatment-recognition diagnostic. It does not quantify rejuvenation, and it does not justify scaling into a large intervention model without a compatible independent study.</a:t>
            </a:r>
          </a:p>
          <a:p xmlns:a="http://schemas.openxmlformats.org/drawingml/2006/main">
            <a:r>
              <a:t/>
            </a:r>
          </a:p>
          <a:p xmlns:a="http://schemas.openxmlformats.org/drawingml/2006/main">
            <a:r>
              <a:t>Sources:</a:t>
            </a:r>
          </a:p>
          <a:p xmlns:a="http://schemas.openxmlformats.org/drawingml/2006/main">
            <a:r>
              <a:t>https://www.nature.com/articles/s43587-026-01234-8</a:t>
            </a:r>
          </a:p>
          <a:p xmlns:a="http://schemas.openxmlformats.org/drawingml/2006/main">
            <a:r>
              <a:t>https://github.com/SproutSeeds/retinal-longevity-controller-benchmarks/tree/main/research/2026-10-public-data/MODEL_CARD.md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synthetic sampling scenarios, kept separate from biological data. At the same total of 1,200 cells, the chance of detecting at least one true state rises from about 53 percent with one donor to 81 percent with three and 92 percent with six under the displayed assumptions. The assumptions are hypothetical. The exercise shows why cell count alone is an incomplete sampling justification and why detector sensitivity and specificity both need calibration.</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https://github.com/SproutSeeds/retinal-longevity-controller-benchmarks/tree/main/research/2026-10-public-data/clustered-sampling-results.json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mouse liver archive supplies an actual observed factor-off endpoint. The deposited files have 16,042 nonempty barcodes. Our post hoc interpretation of the paper’s count and mitochondrial filters retains 2,288, close to the reported 2,284. The exact four-cell discrepancy remains unresolved. This is a useful observed comparator and software fixture, with a different species, tissue and recovery duration from the human question.</a:t>
            </a:r>
          </a:p>
          <a:p xmlns:a="http://schemas.openxmlformats.org/drawingml/2006/main">
            <a:r>
              <a:t/>
            </a:r>
          </a:p>
          <a:p xmlns:a="http://schemas.openxmlformats.org/drawingml/2006/main">
            <a:r>
              <a:t>Sources:</a:t>
            </a:r>
          </a:p>
          <a:p xmlns:a="http://schemas.openxmlformats.org/drawingml/2006/main">
            <a:r>
              <a:t>https://doi.org/10.1016/j.celrep.2022.110730</a:t>
            </a:r>
          </a:p>
          <a:p xmlns:a="http://schemas.openxmlformats.org/drawingml/2006/main">
            <a:r>
              <a:t>https://www.ncbi.nlm.nih.gov/geo/query/acc.cgi?acc=GSE144600</a:t>
            </a:r>
          </a:p>
          <a:p xmlns:a="http://schemas.openxmlformats.org/drawingml/2006/main">
            <a:r>
              <a:t>https://github.com/SproutSeeds/retinal-longevity-controller-benchmarks/tree/main/research/2026-10-public-data/liver-withdrawal-results.json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focused pilot retains untreated references, continued exposure and withdrawal. A shared baseline and a common induced condition before a proposed day-17 branch give eleven biological collections per donor. With three donors that is 33 single-cell libraries. Three donors are a feasibility starting point, not a power calculation. The intervention, branch timing, assay calibration, culture replicates and donor requirements need review by a qualified experimental partner before execution.</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https://github.com/SproutSeeds/retinal-longevity-controller-benchmarks/tree/main/research/2026-10-public-data/MEASUREMENT_PLAN.md</a:t>
            </a:r>
          </a:p>
          <a:p xmlns:a="http://schemas.openxmlformats.org/drawingml/2006/main">
            <a:r>
              <a:t>https://github.com/SproutSeeds/retinal-longevity-controller-benchmarks/tree/main/research/2026-10-public-data/budget-quantities.json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request is for reusable metadata and compatible existing material. If the joint measurement gap remains, the focused pilot would estimate feasibility and donor variation. Adding four earlier timepoints with reference and induced conditions brings the full ladder to 57 libraries. Longer follow-up is a separate extension. A retinal or RPE functional bridge is also a distinct study. The package contains budget quantities and deliverables; actual quotes, a named partner and appropriate review are still required. No wet-lab work has been purchased or arranged.</a:t>
            </a:r>
          </a:p>
          <a:p xmlns:a="http://schemas.openxmlformats.org/drawingml/2006/main">
            <a:r>
              <a:t/>
            </a:r>
          </a:p>
          <a:p xmlns:a="http://schemas.openxmlformats.org/drawingml/2006/main">
            <a:r>
              <a:t>Sources:</a:t>
            </a:r>
          </a:p>
          <a:p xmlns:a="http://schemas.openxmlformats.org/drawingml/2006/main">
            <a:r>
              <a:t>https://github.com/SproutSeeds/retinal-longevity-controller-benchmarks/tree/main/research/2026-10-public-data/MEASUREMENT_PLAN.md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repository includes executable analysis, source hashes, numerical results, model limitations, synthetic assumptions and the conditional measurement plan. The 75 checks and twelve failure-case tests establish the stated computational properties. The four biological readouts remain open. A contributor can change that decision by supplying the exact missing observation, resolving source metadata or demonstrating a reproducible error. The next funding discussion can therefore focus on the measurement that would materially advance the project.</a:t>
            </a:r>
          </a:p>
          <a:p xmlns:a="http://schemas.openxmlformats.org/drawingml/2006/main">
            <a:r>
              <a:t/>
            </a:r>
          </a:p>
          <a:p xmlns:a="http://schemas.openxmlformats.org/drawingml/2006/main">
            <a:r>
              <a:t>Sources:</a:t>
            </a:r>
          </a:p>
          <a:p xmlns:a="http://schemas.openxmlformats.org/drawingml/2006/main">
            <a:r>
              <a:t>https://github.com/SproutSeeds/retinal-longevity-controller-benchmarks</a:t>
            </a:r>
          </a:p>
          <a:p xmlns:a="http://schemas.openxmlformats.org/drawingml/2006/main">
            <a:r>
              <a:t>https://github.com/SproutSeeds/retinal-longevity-controller-benchmarks/tree/main/research/2026-10-public-data/NEXT_STEPS.md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ea03aae35446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2074b45899426a" /><Relationship Type="http://schemas.openxmlformats.org/officeDocument/2006/relationships/slideLayout" Target="/ppt/slideLayouts/slideLayout1.xml" Id="R3844198907af4e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44198907af4e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e1dd6a67744f8e" /><Relationship Type="http://schemas.openxmlformats.org/officeDocument/2006/relationships/notesSlide" Target="/ppt/notesSlides/notesSlide1.xml" Id="R7775db5571d843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d760bc070e414b" /><Relationship Type="http://schemas.openxmlformats.org/officeDocument/2006/relationships/notesSlide" Target="/ppt/notesSlides/notesSlide2.xml" Id="Rfa01e0f4f52c47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056ca7cc3b4d56" /><Relationship Type="http://schemas.openxmlformats.org/officeDocument/2006/relationships/notesSlide" Target="/ppt/notesSlides/notesSlide3.xml" Id="R425a680bfa4f49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e6c4846c26478e" /><Relationship Type="http://schemas.openxmlformats.org/officeDocument/2006/relationships/chart" Target="/ppt/slides/charts/chart1.xml" Id="R1494705d3b244803" /><Relationship Type="http://schemas.openxmlformats.org/officeDocument/2006/relationships/notesSlide" Target="/ppt/notesSlides/notesSlide4.xml" Id="Rd0e1f17649f043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5b72a17c2c4b21" /><Relationship Type="http://schemas.openxmlformats.org/officeDocument/2006/relationships/notesSlide" Target="/ppt/notesSlides/notesSlide5.xml" Id="R23f308d162c149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e3169c57fe74941" /><Relationship Type="http://schemas.openxmlformats.org/officeDocument/2006/relationships/chart" Target="/ppt/slides/charts/chart2.xml" Id="Rfec67638d88e4daa" /><Relationship Type="http://schemas.openxmlformats.org/officeDocument/2006/relationships/notesSlide" Target="/ppt/notesSlides/notesSlide6.xml" Id="R581fc73d2a5f43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a8e142d8064c1e" /><Relationship Type="http://schemas.openxmlformats.org/officeDocument/2006/relationships/chart" Target="/ppt/slides/charts/chart3.xml" Id="Re74e8888f8d74272" /><Relationship Type="http://schemas.openxmlformats.org/officeDocument/2006/relationships/notesSlide" Target="/ppt/notesSlides/notesSlide7.xml" Id="Rb7dede76401f48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bc968043b84cd8" /><Relationship Type="http://schemas.openxmlformats.org/officeDocument/2006/relationships/notesSlide" Target="/ppt/notesSlides/notesSlide8.xml" Id="Re6d1ce57f2824f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909b3e0ab00443b" /><Relationship Type="http://schemas.openxmlformats.org/officeDocument/2006/relationships/notesSlide" Target="/ppt/notesSlides/notesSlide9.xml" Id="R1912b034cb604e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c56c91432d4829" /><Relationship Type="http://schemas.openxmlformats.org/officeDocument/2006/relationships/notesSlide" Target="/ppt/notesSlides/notesSlide10.xml" Id="R0090e3d416bc41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5f35fd6f9a94e75" /><Relationship Type="http://schemas.openxmlformats.org/officeDocument/2006/relationships/notesSlide" Target="/ppt/notesSlides/notesSlide11.xml" Id="R173a94fa6801458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Computed result (rounded for display)</c:v>
          </c:tx>
          <c:spPr>
            <a:solidFill xmlns:a="http://schemas.openxmlformats.org/drawingml/2006/main">
              <a:srgbClr val="087F83"/>
            </a:solidFill>
          </c:spPr>
          <c:cat>
            <c:strRef>
              <c:f>'Chart Data'!$A$2:$A$3</c:f>
              <c:strCache>
                <c:ptCount val="2"/>
                <c:pt idx="0">
                  <c:v>Earlier rule</c:v>
                </c:pt>
                <c:pt idx="1">
                  <c:v>Paired primary</c:v>
                </c:pt>
              </c:strCache>
            </c:strRef>
          </c:cat>
          <c:val>
            <c:numRef>
              <c:f>'Chart Data'!$B$2:$B$3</c:f>
              <c:numCache>
                <c:formatCode>0</c:formatCode>
                <c:ptCount val="2"/>
                <c:pt idx="0">
                  <c:v>97</c:v>
                </c:pt>
                <c:pt idx="1">
                  <c:v>208</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42E3A"/>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1"/>
                </a:solidFill>
                <a:latin typeface="Liberation Sans"/>
                <a:ea typeface="Liberation Sans"/>
                <a:cs typeface="Liberation Sans"/>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71"/>
                </a:solidFill>
                <a:latin typeface="Liberation Sans"/>
                <a:ea typeface="Liberation Sans"/>
                <a:cs typeface="Liberation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Computed result (rounded for display)</c:v>
          </c:tx>
          <c:spPr>
            <a:solidFill xmlns:a="http://schemas.openxmlformats.org/drawingml/2006/main">
              <a:srgbClr val="087F83"/>
            </a:solidFill>
          </c:spPr>
          <c:cat>
            <c:strRef>
              <c:f>'Chart Data'!$A$2:$A$4</c:f>
              <c:strCache>
                <c:ptCount val="3"/>
                <c:pt idx="0">
                  <c:v>Expression</c:v>
                </c:pt>
                <c:pt idx="1">
                  <c:v>No cycle</c:v>
                </c:pt>
                <c:pt idx="2">
                  <c:v>Depth only</c:v>
                </c:pt>
              </c:strCache>
            </c:strRef>
          </c:cat>
          <c:val>
            <c:numRef>
              <c:f>'Chart Data'!$B$2:$B$4</c:f>
              <c:numCache>
                <c:formatCode>0.00</c:formatCode>
                <c:ptCount val="3"/>
                <c:pt idx="0">
                  <c:v>1</c:v>
                </c:pt>
                <c:pt idx="1">
                  <c:v>1</c:v>
                </c:pt>
                <c:pt idx="2">
                  <c:v>0.833</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FFFFF"/>
                  </a:solidFill>
                  <a:latin typeface="Liberation Sans"/>
                  <a:ea typeface="Liberation Sans"/>
                  <a:cs typeface="Liberation Sans"/>
                </a:defRPr>
              </a:pPr>
            </a:p>
          </c:txPr>
          <c:dLblPos val="in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1"/>
                </a:solidFill>
                <a:latin typeface="Liberation Sans"/>
                <a:ea typeface="Liberation Sans"/>
                <a:cs typeface="Liberation Sans"/>
              </a:defRPr>
            </a:pPr>
          </a:p>
        </c:txPr>
        <c:crossAx val="48672768"/>
      </c:catAx>
      <c:valAx>
        <c:axId val="48672768"/>
        <c:scaling>
          <c:orientation val="minMax"/>
          <c:max val="1"/>
          <c:min val="0"/>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71"/>
                </a:solidFill>
                <a:latin typeface="Liberation Sans"/>
                <a:ea typeface="Liberation Sans"/>
                <a:cs typeface="Liberation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Computed result (rounded for display)</c:v>
          </c:tx>
          <c:spPr>
            <a:solidFill xmlns:a="http://schemas.openxmlformats.org/drawingml/2006/main">
              <a:srgbClr val="087F83"/>
            </a:solidFill>
          </c:spPr>
          <c:cat>
            <c:strRef>
              <c:f>'Chart Data'!$A$2:$A$4</c:f>
              <c:strCache>
                <c:ptCount val="3"/>
                <c:pt idx="0">
                  <c:v>1 donor</c:v>
                </c:pt>
                <c:pt idx="1">
                  <c:v>3 donors</c:v>
                </c:pt>
                <c:pt idx="2">
                  <c:v>6 donors</c:v>
                </c:pt>
              </c:strCache>
            </c:strRef>
          </c:cat>
          <c:val>
            <c:numRef>
              <c:f>'Chart Data'!$B$2:$B$4</c:f>
              <c:numCache>
                <c:formatCode>0</c:formatCode>
                <c:ptCount val="3"/>
                <c:pt idx="0">
                  <c:v>52.993</c:v>
                </c:pt>
                <c:pt idx="1">
                  <c:v>80.974</c:v>
                </c:pt>
                <c:pt idx="2">
                  <c:v>92.488</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42E3A"/>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1"/>
                </a:solidFill>
                <a:latin typeface="Liberation Sans"/>
                <a:ea typeface="Liberation Sans"/>
                <a:cs typeface="Liberation Sans"/>
              </a:defRPr>
            </a:pPr>
          </a:p>
        </c:txPr>
        <c:crossAx val="48672768"/>
      </c:catAx>
      <c:valAx>
        <c:axId val="48672768"/>
        <c:scaling>
          <c:orientation val="minMax"/>
          <c:max val="10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71"/>
                </a:solidFill>
                <a:latin typeface="Liberation Sans"/>
                <a:ea typeface="Liberation Sans"/>
                <a:cs typeface="Liberation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479342-33E7-4B71-8A4A-2EF6B571F740}"/>
              </a:ext>
            </a:extLst>
          </p:cNvPr>
          <p:cNvSpPr>
            <a:spLocks xmlns:a="http://schemas.openxmlformats.org/drawingml/2006/main" noGrp="1"/>
          </p:cNvSpPr>
          <p:nvPr/>
        </p:nvSpPr>
        <p:spPr>
          <a:xfrm xmlns:a="http://schemas.openxmlformats.org/drawingml/2006/main">
            <a:off x="609600" y="2952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3"/>
                </a:solidFill>
                <a:latin typeface="Liberation Sans"/>
                <a:ea typeface="Liberation Sans"/>
                <a:cs typeface="Liberation Sans"/>
              </a:defRPr>
            </a:pPr>
            <a:r>
              <a:rPr sz="1200" b="1">
                <a:solidFill>
                  <a:srgbClr val="087F83"/>
                </a:solidFill>
                <a:latin typeface="Liberation Sans"/>
                <a:ea typeface="Liberation Sans"/>
                <a:cs typeface="Liberation Sans"/>
              </a:rPr>
              <a:t>FRACTAL RESEARCH GROUP / SPROUTSEEDS</a:t>
            </a:r>
          </a:p>
        </p:txBody>
      </p:sp>
      <p:sp>
        <p:nvSpPr>
          <p:cNvPr id="2" name="">
            <a:extLst xmlns:a="http://schemas.openxmlformats.org/drawingml/2006/main">
              <a:ext uri="{FF2B5EF4-FFF2-40B4-BE49-F238E27FC236}">
                <a16:creationId xmlns:a16="http://schemas.microsoft.com/office/drawing/2014/main" id="{88BF9757-D0FE-4189-8952-55271D8D4F2A}"/>
              </a:ext>
            </a:extLst>
          </p:cNvPr>
          <p:cNvSpPr>
            <a:spLocks xmlns:a="http://schemas.openxmlformats.org/drawingml/2006/main" noGrp="1"/>
          </p:cNvSpPr>
          <p:nvPr/>
        </p:nvSpPr>
        <p:spPr>
          <a:xfrm xmlns:a="http://schemas.openxmlformats.org/drawingml/2006/main">
            <a:off x="609600" y="781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Retinal longevity</a:t>
            </a:r>
          </a:p>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and the recovery measurement</a:t>
            </a:r>
          </a:p>
        </p:txBody>
      </p:sp>
      <p:sp>
        <p:nvSpPr>
          <p:cNvPr id="3" name="">
            <a:extLst xmlns:a="http://schemas.openxmlformats.org/drawingml/2006/main">
              <a:ext uri="{FF2B5EF4-FFF2-40B4-BE49-F238E27FC236}">
                <a16:creationId xmlns:a16="http://schemas.microsoft.com/office/drawing/2014/main" id="{D3638F2E-27BC-4292-AF9C-54B2E288AE3E}"/>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EAF795-9FEE-4358-B7B5-80C729B29786}"/>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671"/>
                </a:solidFill>
                <a:latin typeface="Liberation Sans"/>
                <a:ea typeface="Liberation Sans"/>
                <a:cs typeface="Liberation Sans"/>
              </a:defRPr>
            </a:pPr>
            <a:r>
              <a:rPr sz="1050" b="0">
                <a:solidFill>
                  <a:srgbClr val="536671"/>
                </a:solidFill>
                <a:latin typeface="Liberation Sans"/>
                <a:ea typeface="Liberation Sans"/>
                <a:cs typeface="Liberation Sans"/>
              </a:rPr>
              <a:t>FRG / SproutSeeds  ·  Computational findings; biological claims remain Heuristic</a:t>
            </a:r>
          </a:p>
        </p:txBody>
      </p:sp>
      <p:sp>
        <p:nvSpPr>
          <p:cNvPr id="5" name="">
            <a:extLst xmlns:a="http://schemas.openxmlformats.org/drawingml/2006/main">
              <a:ext uri="{FF2B5EF4-FFF2-40B4-BE49-F238E27FC236}">
                <a16:creationId xmlns:a16="http://schemas.microsoft.com/office/drawing/2014/main" id="{FAE7D2C9-6279-4B5F-8DE9-A0ED6838EA2D}"/>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01</a:t>
            </a:r>
          </a:p>
        </p:txBody>
      </p:sp>
      <p:sp>
        <p:nvSpPr>
          <p:cNvPr id="6" name="">
            <a:extLst xmlns:a="http://schemas.openxmlformats.org/drawingml/2006/main">
              <a:ext uri="{FF2B5EF4-FFF2-40B4-BE49-F238E27FC236}">
                <a16:creationId xmlns:a16="http://schemas.microsoft.com/office/drawing/2014/main" id="{5E305F14-BF22-4B0B-8510-5C3436D4F00E}"/>
              </a:ext>
            </a:extLst>
          </p:cNvPr>
          <p:cNvSpPr>
            <a:spLocks xmlns:a="http://schemas.openxmlformats.org/drawingml/2006/main" noGrp="1"/>
          </p:cNvSpPr>
          <p:nvPr/>
        </p:nvSpPr>
        <p:spPr>
          <a:xfrm xmlns:a="http://schemas.openxmlformats.org/drawingml/2006/main">
            <a:off x="609600" y="228600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536671"/>
                </a:solidFill>
                <a:latin typeface="Liberation Sans"/>
                <a:ea typeface="Liberation Sans"/>
                <a:cs typeface="Liberation Sans"/>
              </a:defRPr>
            </a:pPr>
            <a:r>
              <a:rPr sz="2625" b="0">
                <a:solidFill>
                  <a:srgbClr val="536671"/>
                </a:solidFill>
                <a:latin typeface="Liberation Sans"/>
                <a:ea typeface="Liberation Sans"/>
                <a:cs typeface="Liberation Sans"/>
              </a:rPr>
              <a:t>What public data can answer now,</a:t>
            </a:r>
          </a:p>
          <a:p xmlns:a="http://schemas.openxmlformats.org/drawingml/2006/main">
            <a:pPr>
              <a:defRPr sz="2625" b="0">
                <a:solidFill>
                  <a:srgbClr val="536671"/>
                </a:solidFill>
                <a:latin typeface="Liberation Sans"/>
                <a:ea typeface="Liberation Sans"/>
                <a:cs typeface="Liberation Sans"/>
              </a:defRPr>
            </a:pPr>
            <a:r>
              <a:rPr sz="2625" b="0">
                <a:solidFill>
                  <a:srgbClr val="536671"/>
                </a:solidFill>
                <a:latin typeface="Liberation Sans"/>
                <a:ea typeface="Liberation Sans"/>
                <a:cs typeface="Liberation Sans"/>
              </a:rPr>
              <a:t>and what a future experiment must add.</a:t>
            </a:r>
          </a:p>
        </p:txBody>
      </p:sp>
      <p:sp>
        <p:nvSpPr>
          <p:cNvPr id="7" name="">
            <a:extLst xmlns:a="http://schemas.openxmlformats.org/drawingml/2006/main">
              <a:ext uri="{FF2B5EF4-FFF2-40B4-BE49-F238E27FC236}">
                <a16:creationId xmlns:a16="http://schemas.microsoft.com/office/drawing/2014/main" id="{28A8F230-2BA7-402C-A2B2-48117DB20CF4}"/>
              </a:ext>
            </a:extLst>
          </p:cNvPr>
          <p:cNvSpPr>
            <a:spLocks xmlns:a="http://schemas.openxmlformats.org/drawingml/2006/main" noGrp="1"/>
          </p:cNvSpPr>
          <p:nvPr/>
        </p:nvSpPr>
        <p:spPr>
          <a:xfrm xmlns:a="http://schemas.openxmlformats.org/drawingml/2006/main">
            <a:off x="609600" y="3857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Liberation Sans"/>
                <a:ea typeface="Liberation Sans"/>
                <a:cs typeface="Liberation Sans"/>
              </a:defRPr>
            </a:pPr>
            <a:r>
              <a:rPr sz="2175" b="1">
                <a:solidFill>
                  <a:srgbClr val="087F83"/>
                </a:solidFill>
                <a:latin typeface="Liberation Sans"/>
                <a:ea typeface="Liberation Sans"/>
                <a:cs typeface="Liberation Sans"/>
              </a:rPr>
              <a:t>Reproducible research + conditional funding package</a:t>
            </a:r>
          </a:p>
        </p:txBody>
      </p:sp>
      <p:sp>
        <p:nvSpPr>
          <p:cNvPr id="8" name="">
            <a:extLst xmlns:a="http://schemas.openxmlformats.org/drawingml/2006/main">
              <a:ext uri="{FF2B5EF4-FFF2-40B4-BE49-F238E27FC236}">
                <a16:creationId xmlns:a16="http://schemas.microsoft.com/office/drawing/2014/main" id="{34D262CD-23FF-4C9E-97DA-D3EE88816EE6}"/>
              </a:ext>
            </a:extLst>
          </p:cNvPr>
          <p:cNvSpPr>
            <a:spLocks xmlns:a="http://schemas.openxmlformats.org/drawingml/2006/main" noGrp="1"/>
          </p:cNvSpPr>
          <p:nvPr/>
        </p:nvSpPr>
        <p:spPr>
          <a:xfrm xmlns:a="http://schemas.openxmlformats.org/drawingml/2006/main">
            <a:off x="609600" y="50482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E3A"/>
                </a:solidFill>
                <a:latin typeface="Liberation Sans"/>
                <a:ea typeface="Liberation Sans"/>
                <a:cs typeface="Liberation Sans"/>
              </a:defRPr>
            </a:pPr>
            <a:r>
              <a:rPr sz="1800" b="0">
                <a:solidFill>
                  <a:srgbClr val="142E3A"/>
                </a:solidFill>
                <a:latin typeface="Liberation Sans"/>
                <a:ea typeface="Liberation Sans"/>
                <a:cs typeface="Liberation Sans"/>
              </a:rPr>
              <a:t>Cody Mitchell  ·  October 17, 2026</a:t>
            </a:r>
          </a:p>
        </p:txBody>
      </p:sp>
    </p:spTree>
    <p:extLst>
      <p:ext uri="{BB962C8B-B14F-4D97-AF65-F5344CB8AC3E}">
        <p14:creationId xmlns:p14="http://schemas.microsoft.com/office/powerpoint/2010/main" val="5271672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27C541B-7FA9-44FC-B8BE-1EC03CE9E189}"/>
              </a:ext>
            </a:extLst>
          </p:cNvPr>
          <p:cNvSpPr>
            <a:spLocks xmlns:a="http://schemas.openxmlformats.org/drawingml/2006/main" noGrp="1"/>
          </p:cNvSpPr>
          <p:nvPr/>
        </p:nvSpPr>
        <p:spPr>
          <a:xfrm xmlns:a="http://schemas.openxmlformats.org/drawingml/2006/main">
            <a:off x="609600" y="2952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3"/>
                </a:solidFill>
                <a:latin typeface="Liberation Sans"/>
                <a:ea typeface="Liberation Sans"/>
                <a:cs typeface="Liberation Sans"/>
              </a:defRPr>
            </a:pPr>
            <a:r>
              <a:rPr sz="1200" b="1">
                <a:solidFill>
                  <a:srgbClr val="087F83"/>
                </a:solidFill>
                <a:latin typeface="Liberation Sans"/>
                <a:ea typeface="Liberation Sans"/>
                <a:cs typeface="Liberation Sans"/>
              </a:rPr>
              <a:t>PUBLIC DATA · OCTOBER 2026</a:t>
            </a:r>
          </a:p>
        </p:txBody>
      </p:sp>
      <p:sp>
        <p:nvSpPr>
          <p:cNvPr id="2" name="">
            <a:extLst xmlns:a="http://schemas.openxmlformats.org/drawingml/2006/main">
              <a:ext uri="{FF2B5EF4-FFF2-40B4-BE49-F238E27FC236}">
                <a16:creationId xmlns:a16="http://schemas.microsoft.com/office/drawing/2014/main" id="{CFB3879A-6A88-401E-8AA9-EDFB56899302}"/>
              </a:ext>
            </a:extLst>
          </p:cNvPr>
          <p:cNvSpPr>
            <a:spLocks xmlns:a="http://schemas.openxmlformats.org/drawingml/2006/main" noGrp="1"/>
          </p:cNvSpPr>
          <p:nvPr/>
        </p:nvSpPr>
        <p:spPr>
          <a:xfrm xmlns:a="http://schemas.openxmlformats.org/drawingml/2006/main">
            <a:off x="609600" y="781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Four questions still need a matched observation</a:t>
            </a:r>
          </a:p>
        </p:txBody>
      </p:sp>
      <p:sp>
        <p:nvSpPr>
          <p:cNvPr id="3" name="">
            <a:extLst xmlns:a="http://schemas.openxmlformats.org/drawingml/2006/main">
              <a:ext uri="{FF2B5EF4-FFF2-40B4-BE49-F238E27FC236}">
                <a16:creationId xmlns:a16="http://schemas.microsoft.com/office/drawing/2014/main" id="{DC9B043B-70CC-4D0A-B288-C313366C6EF1}"/>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BC7176-BB6F-421B-9E00-009ACC2B201B}"/>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671"/>
                </a:solidFill>
                <a:latin typeface="Liberation Sans"/>
                <a:ea typeface="Liberation Sans"/>
                <a:cs typeface="Liberation Sans"/>
              </a:defRPr>
            </a:pPr>
            <a:r>
              <a:rPr sz="1050" b="0">
                <a:solidFill>
                  <a:srgbClr val="536671"/>
                </a:solidFill>
                <a:latin typeface="Liberation Sans"/>
                <a:ea typeface="Liberation Sans"/>
                <a:cs typeface="Liberation Sans"/>
              </a:rPr>
              <a:t>FRG / SproutSeeds  ·  Computational findings; biological claims remain Heuristic</a:t>
            </a:r>
          </a:p>
        </p:txBody>
      </p:sp>
      <p:sp>
        <p:nvSpPr>
          <p:cNvPr id="5" name="">
            <a:extLst xmlns:a="http://schemas.openxmlformats.org/drawingml/2006/main">
              <a:ext uri="{FF2B5EF4-FFF2-40B4-BE49-F238E27FC236}">
                <a16:creationId xmlns:a16="http://schemas.microsoft.com/office/drawing/2014/main" id="{19A1DE4A-067C-48BF-A278-4823C1F13250}"/>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02</a:t>
            </a:r>
          </a:p>
        </p:txBody>
      </p:sp>
      <p:sp>
        <p:nvSpPr>
          <p:cNvPr id="6" name="">
            <a:extLst xmlns:a="http://schemas.openxmlformats.org/drawingml/2006/main">
              <a:ext uri="{FF2B5EF4-FFF2-40B4-BE49-F238E27FC236}">
                <a16:creationId xmlns:a16="http://schemas.microsoft.com/office/drawing/2014/main" id="{044B6C4D-8D8D-4942-8204-3E51FE22A4E2}"/>
              </a:ext>
            </a:extLst>
          </p:cNvPr>
          <p:cNvSpPr>
            <a:spLocks xmlns:a="http://schemas.openxmlformats.org/drawingml/2006/main" noGrp="1"/>
          </p:cNvSpPr>
          <p:nvPr/>
        </p:nvSpPr>
        <p:spPr>
          <a:xfrm xmlns:a="http://schemas.openxmlformats.org/drawingml/2006/main">
            <a:off x="609600" y="1952625"/>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Liberation Sans"/>
                <a:ea typeface="Liberation Sans"/>
                <a:cs typeface="Liberation Sans"/>
              </a:defRPr>
            </a:pPr>
            <a:r>
              <a:rPr sz="2250" b="1">
                <a:solidFill>
                  <a:srgbClr val="087F83"/>
                </a:solidFill>
                <a:latin typeface="Liberation Sans"/>
                <a:ea typeface="Liberation Sans"/>
                <a:cs typeface="Liberation Sans"/>
              </a:rPr>
              <a:t>1</a:t>
            </a:r>
          </a:p>
        </p:txBody>
      </p:sp>
      <p:sp>
        <p:nvSpPr>
          <p:cNvPr id="7" name="">
            <a:extLst xmlns:a="http://schemas.openxmlformats.org/drawingml/2006/main">
              <a:ext uri="{FF2B5EF4-FFF2-40B4-BE49-F238E27FC236}">
                <a16:creationId xmlns:a16="http://schemas.microsoft.com/office/drawing/2014/main" id="{93C15CA9-4D24-4D55-970A-5310A7A5F69B}"/>
              </a:ext>
            </a:extLst>
          </p:cNvPr>
          <p:cNvSpPr>
            <a:spLocks xmlns:a="http://schemas.openxmlformats.org/drawingml/2006/main" noGrp="1"/>
          </p:cNvSpPr>
          <p:nvPr/>
        </p:nvSpPr>
        <p:spPr>
          <a:xfrm xmlns:a="http://schemas.openxmlformats.org/drawingml/2006/main">
            <a:off x="1238250" y="1952625"/>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E3A"/>
                </a:solidFill>
                <a:latin typeface="Liberation Sans"/>
                <a:ea typeface="Liberation Sans"/>
                <a:cs typeface="Liberation Sans"/>
              </a:defRPr>
            </a:pPr>
            <a:r>
              <a:rPr sz="2175" b="1">
                <a:solidFill>
                  <a:srgbClr val="142E3A"/>
                </a:solidFill>
                <a:latin typeface="Liberation Sans"/>
                <a:ea typeface="Liberation Sans"/>
                <a:cs typeface="Liberation Sans"/>
              </a:rPr>
              <a:t>Late identity</a:t>
            </a:r>
          </a:p>
        </p:txBody>
      </p:sp>
      <p:sp>
        <p:nvSpPr>
          <p:cNvPr id="8" name="">
            <a:extLst xmlns:a="http://schemas.openxmlformats.org/drawingml/2006/main">
              <a:ext uri="{FF2B5EF4-FFF2-40B4-BE49-F238E27FC236}">
                <a16:creationId xmlns:a16="http://schemas.microsoft.com/office/drawing/2014/main" id="{AED0C98A-00E6-4F34-B31D-1F023AA7B38F}"/>
              </a:ext>
            </a:extLst>
          </p:cNvPr>
          <p:cNvSpPr>
            <a:spLocks xmlns:a="http://schemas.openxmlformats.org/drawingml/2006/main" noGrp="1"/>
          </p:cNvSpPr>
          <p:nvPr/>
        </p:nvSpPr>
        <p:spPr>
          <a:xfrm xmlns:a="http://schemas.openxmlformats.org/drawingml/2006/main">
            <a:off x="3810000" y="1952625"/>
            <a:ext cx="771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Which age-positive human cells retain adult identity?</a:t>
            </a:r>
          </a:p>
        </p:txBody>
      </p:sp>
      <p:sp>
        <p:nvSpPr>
          <p:cNvPr id="9" name="">
            <a:extLst xmlns:a="http://schemas.openxmlformats.org/drawingml/2006/main">
              <a:ext uri="{FF2B5EF4-FFF2-40B4-BE49-F238E27FC236}">
                <a16:creationId xmlns:a16="http://schemas.microsoft.com/office/drawing/2014/main" id="{B462D65A-F12C-47C8-9BC3-4762FB509C8B}"/>
              </a:ext>
            </a:extLst>
          </p:cNvPr>
          <p:cNvSpPr>
            <a:spLocks xmlns:a="http://schemas.openxmlformats.org/drawingml/2006/main" noGrp="1"/>
          </p:cNvSpPr>
          <p:nvPr/>
        </p:nvSpPr>
        <p:spPr>
          <a:xfrm xmlns:a="http://schemas.openxmlformats.org/drawingml/2006/main">
            <a:off x="609600" y="2847975"/>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Liberation Sans"/>
                <a:ea typeface="Liberation Sans"/>
                <a:cs typeface="Liberation Sans"/>
              </a:defRPr>
            </a:pPr>
            <a:r>
              <a:rPr sz="2250" b="1">
                <a:solidFill>
                  <a:srgbClr val="087F83"/>
                </a:solidFill>
                <a:latin typeface="Liberation Sans"/>
                <a:ea typeface="Liberation Sans"/>
                <a:cs typeface="Liberation Sans"/>
              </a:rPr>
              <a:t>2</a:t>
            </a:r>
          </a:p>
        </p:txBody>
      </p:sp>
      <p:sp>
        <p:nvSpPr>
          <p:cNvPr id="10" name="">
            <a:extLst xmlns:a="http://schemas.openxmlformats.org/drawingml/2006/main">
              <a:ext uri="{FF2B5EF4-FFF2-40B4-BE49-F238E27FC236}">
                <a16:creationId xmlns:a16="http://schemas.microsoft.com/office/drawing/2014/main" id="{925D028A-7357-4CA5-9828-209AAA9447E4}"/>
              </a:ext>
            </a:extLst>
          </p:cNvPr>
          <p:cNvSpPr>
            <a:spLocks xmlns:a="http://schemas.openxmlformats.org/drawingml/2006/main" noGrp="1"/>
          </p:cNvSpPr>
          <p:nvPr/>
        </p:nvSpPr>
        <p:spPr>
          <a:xfrm xmlns:a="http://schemas.openxmlformats.org/drawingml/2006/main">
            <a:off x="1238250" y="2847975"/>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E3A"/>
                </a:solidFill>
                <a:latin typeface="Liberation Sans"/>
                <a:ea typeface="Liberation Sans"/>
                <a:cs typeface="Liberation Sans"/>
              </a:defRPr>
            </a:pPr>
            <a:r>
              <a:rPr sz="2175" b="1">
                <a:solidFill>
                  <a:srgbClr val="142E3A"/>
                </a:solidFill>
                <a:latin typeface="Liberation Sans"/>
                <a:ea typeface="Liberation Sans"/>
                <a:cs typeface="Liberation Sans"/>
              </a:rPr>
              <a:t>Rare states</a:t>
            </a:r>
          </a:p>
        </p:txBody>
      </p:sp>
      <p:sp>
        <p:nvSpPr>
          <p:cNvPr id="11" name="">
            <a:extLst xmlns:a="http://schemas.openxmlformats.org/drawingml/2006/main">
              <a:ext uri="{FF2B5EF4-FFF2-40B4-BE49-F238E27FC236}">
                <a16:creationId xmlns:a16="http://schemas.microsoft.com/office/drawing/2014/main" id="{6C8E1C88-0223-4583-BC4C-3F23E52C85AC}"/>
              </a:ext>
            </a:extLst>
          </p:cNvPr>
          <p:cNvSpPr>
            <a:spLocks xmlns:a="http://schemas.openxmlformats.org/drawingml/2006/main" noGrp="1"/>
          </p:cNvSpPr>
          <p:nvPr/>
        </p:nvSpPr>
        <p:spPr>
          <a:xfrm xmlns:a="http://schemas.openxmlformats.org/drawingml/2006/main">
            <a:off x="3810000" y="2847975"/>
            <a:ext cx="771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What unusual states occur, and can we detect them reliably?</a:t>
            </a:r>
          </a:p>
        </p:txBody>
      </p:sp>
      <p:sp>
        <p:nvSpPr>
          <p:cNvPr id="12" name="">
            <a:extLst xmlns:a="http://schemas.openxmlformats.org/drawingml/2006/main">
              <a:ext uri="{FF2B5EF4-FFF2-40B4-BE49-F238E27FC236}">
                <a16:creationId xmlns:a16="http://schemas.microsoft.com/office/drawing/2014/main" id="{D43B87BF-05D0-44EF-A73B-CEDFB8D46541}"/>
              </a:ext>
            </a:extLst>
          </p:cNvPr>
          <p:cNvSpPr>
            <a:spLocks xmlns:a="http://schemas.openxmlformats.org/drawingml/2006/main" noGrp="1"/>
          </p:cNvSpPr>
          <p:nvPr/>
        </p:nvSpPr>
        <p:spPr>
          <a:xfrm xmlns:a="http://schemas.openxmlformats.org/drawingml/2006/main">
            <a:off x="609600" y="3743325"/>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Liberation Sans"/>
                <a:ea typeface="Liberation Sans"/>
                <a:cs typeface="Liberation Sans"/>
              </a:defRPr>
            </a:pPr>
            <a:r>
              <a:rPr sz="2250" b="1">
                <a:solidFill>
                  <a:srgbClr val="087F83"/>
                </a:solidFill>
                <a:latin typeface="Liberation Sans"/>
                <a:ea typeface="Liberation Sans"/>
                <a:cs typeface="Liberation Sans"/>
              </a:rPr>
              <a:t>3</a:t>
            </a:r>
          </a:p>
        </p:txBody>
      </p:sp>
      <p:sp>
        <p:nvSpPr>
          <p:cNvPr id="13" name="">
            <a:extLst xmlns:a="http://schemas.openxmlformats.org/drawingml/2006/main">
              <a:ext uri="{FF2B5EF4-FFF2-40B4-BE49-F238E27FC236}">
                <a16:creationId xmlns:a16="http://schemas.microsoft.com/office/drawing/2014/main" id="{B7618057-DB81-4975-9BE8-7F228524BBB2}"/>
              </a:ext>
            </a:extLst>
          </p:cNvPr>
          <p:cNvSpPr>
            <a:spLocks xmlns:a="http://schemas.openxmlformats.org/drawingml/2006/main" noGrp="1"/>
          </p:cNvSpPr>
          <p:nvPr/>
        </p:nvSpPr>
        <p:spPr>
          <a:xfrm xmlns:a="http://schemas.openxmlformats.org/drawingml/2006/main">
            <a:off x="1238250" y="3743325"/>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E3A"/>
                </a:solidFill>
                <a:latin typeface="Liberation Sans"/>
                <a:ea typeface="Liberation Sans"/>
                <a:cs typeface="Liberation Sans"/>
              </a:defRPr>
            </a:pPr>
            <a:r>
              <a:rPr sz="2175" b="1">
                <a:solidFill>
                  <a:srgbClr val="142E3A"/>
                </a:solidFill>
                <a:latin typeface="Liberation Sans"/>
                <a:ea typeface="Liberation Sans"/>
                <a:cs typeface="Liberation Sans"/>
              </a:rPr>
              <a:t>Recovery</a:t>
            </a:r>
          </a:p>
        </p:txBody>
      </p:sp>
      <p:sp>
        <p:nvSpPr>
          <p:cNvPr id="14" name="">
            <a:extLst xmlns:a="http://schemas.openxmlformats.org/drawingml/2006/main">
              <a:ext uri="{FF2B5EF4-FFF2-40B4-BE49-F238E27FC236}">
                <a16:creationId xmlns:a16="http://schemas.microsoft.com/office/drawing/2014/main" id="{1F4D78DA-1CC7-48F4-A701-8A001D3A4551}"/>
              </a:ext>
            </a:extLst>
          </p:cNvPr>
          <p:cNvSpPr>
            <a:spLocks xmlns:a="http://schemas.openxmlformats.org/drawingml/2006/main" noGrp="1"/>
          </p:cNvSpPr>
          <p:nvPr/>
        </p:nvSpPr>
        <p:spPr>
          <a:xfrm xmlns:a="http://schemas.openxmlformats.org/drawingml/2006/main">
            <a:off x="3810000" y="3743325"/>
            <a:ext cx="771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What remains after withdrawal and longer follow-up?</a:t>
            </a:r>
          </a:p>
        </p:txBody>
      </p:sp>
      <p:sp>
        <p:nvSpPr>
          <p:cNvPr id="15" name="">
            <a:extLst xmlns:a="http://schemas.openxmlformats.org/drawingml/2006/main">
              <a:ext uri="{FF2B5EF4-FFF2-40B4-BE49-F238E27FC236}">
                <a16:creationId xmlns:a16="http://schemas.microsoft.com/office/drawing/2014/main" id="{AA49C310-03BE-493C-9708-C4769D12422D}"/>
              </a:ext>
            </a:extLst>
          </p:cNvPr>
          <p:cNvSpPr>
            <a:spLocks xmlns:a="http://schemas.openxmlformats.org/drawingml/2006/main" noGrp="1"/>
          </p:cNvSpPr>
          <p:nvPr/>
        </p:nvSpPr>
        <p:spPr>
          <a:xfrm xmlns:a="http://schemas.openxmlformats.org/drawingml/2006/main">
            <a:off x="609600" y="4638675"/>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Liberation Sans"/>
                <a:ea typeface="Liberation Sans"/>
                <a:cs typeface="Liberation Sans"/>
              </a:defRPr>
            </a:pPr>
            <a:r>
              <a:rPr sz="2250" b="1">
                <a:solidFill>
                  <a:srgbClr val="087F83"/>
                </a:solidFill>
                <a:latin typeface="Liberation Sans"/>
                <a:ea typeface="Liberation Sans"/>
                <a:cs typeface="Liberation Sans"/>
              </a:rPr>
              <a:t>4</a:t>
            </a:r>
          </a:p>
        </p:txBody>
      </p:sp>
      <p:sp>
        <p:nvSpPr>
          <p:cNvPr id="16" name="">
            <a:extLst xmlns:a="http://schemas.openxmlformats.org/drawingml/2006/main">
              <a:ext uri="{FF2B5EF4-FFF2-40B4-BE49-F238E27FC236}">
                <a16:creationId xmlns:a16="http://schemas.microsoft.com/office/drawing/2014/main" id="{EB433ED3-387E-4D6A-8A61-3A46669948F5}"/>
              </a:ext>
            </a:extLst>
          </p:cNvPr>
          <p:cNvSpPr>
            <a:spLocks xmlns:a="http://schemas.openxmlformats.org/drawingml/2006/main" noGrp="1"/>
          </p:cNvSpPr>
          <p:nvPr/>
        </p:nvSpPr>
        <p:spPr>
          <a:xfrm xmlns:a="http://schemas.openxmlformats.org/drawingml/2006/main">
            <a:off x="1238250" y="4638675"/>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E3A"/>
                </a:solidFill>
                <a:latin typeface="Liberation Sans"/>
                <a:ea typeface="Liberation Sans"/>
                <a:cs typeface="Liberation Sans"/>
              </a:defRPr>
            </a:pPr>
            <a:r>
              <a:rPr sz="2175" b="1">
                <a:solidFill>
                  <a:srgbClr val="142E3A"/>
                </a:solidFill>
                <a:latin typeface="Liberation Sans"/>
                <a:ea typeface="Liberation Sans"/>
                <a:cs typeface="Liberation Sans"/>
              </a:rPr>
              <a:t>Continuity</a:t>
            </a:r>
          </a:p>
        </p:txBody>
      </p:sp>
      <p:sp>
        <p:nvSpPr>
          <p:cNvPr id="17" name="">
            <a:extLst xmlns:a="http://schemas.openxmlformats.org/drawingml/2006/main">
              <a:ext uri="{FF2B5EF4-FFF2-40B4-BE49-F238E27FC236}">
                <a16:creationId xmlns:a16="http://schemas.microsoft.com/office/drawing/2014/main" id="{454BA731-A886-4EB9-B71C-EDB7291D731E}"/>
              </a:ext>
            </a:extLst>
          </p:cNvPr>
          <p:cNvSpPr>
            <a:spLocks xmlns:a="http://schemas.openxmlformats.org/drawingml/2006/main" noGrp="1"/>
          </p:cNvSpPr>
          <p:nvPr/>
        </p:nvSpPr>
        <p:spPr>
          <a:xfrm xmlns:a="http://schemas.openxmlformats.org/drawingml/2006/main">
            <a:off x="3810000" y="4638675"/>
            <a:ext cx="771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Can a common measured trajectory connect the late windows?</a:t>
            </a:r>
          </a:p>
        </p:txBody>
      </p:sp>
      <p:sp>
        <p:nvSpPr>
          <p:cNvPr id="18" name="">
            <a:extLst xmlns:a="http://schemas.openxmlformats.org/drawingml/2006/main">
              <a:ext uri="{FF2B5EF4-FFF2-40B4-BE49-F238E27FC236}">
                <a16:creationId xmlns:a16="http://schemas.microsoft.com/office/drawing/2014/main" id="{A1CF5354-CA81-43E2-993D-DB380F9E5D62}"/>
              </a:ext>
            </a:extLst>
          </p:cNvPr>
          <p:cNvSpPr>
            <a:spLocks xmlns:a="http://schemas.openxmlformats.org/drawingml/2006/main" noGrp="1"/>
          </p:cNvSpPr>
          <p:nvPr/>
        </p:nvSpPr>
        <p:spPr>
          <a:xfrm xmlns:a="http://schemas.openxmlformats.org/drawingml/2006/main">
            <a:off x="1238250" y="56197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9B5D22"/>
                </a:solidFill>
                <a:latin typeface="Liberation Sans"/>
                <a:ea typeface="Liberation Sans"/>
                <a:cs typeface="Liberation Sans"/>
              </a:defRPr>
            </a:pPr>
            <a:r>
              <a:rPr sz="1800" b="1">
                <a:solidFill>
                  <a:srgbClr val="9B5D22"/>
                </a:solidFill>
                <a:latin typeface="Liberation Sans"/>
                <a:ea typeface="Liberation Sans"/>
                <a:cs typeface="Liberation Sans"/>
              </a:rPr>
              <a:t>Current verdict for each: insufficient_signal</a:t>
            </a:r>
          </a:p>
        </p:txBody>
      </p:sp>
    </p:spTree>
    <p:extLst>
      <p:ext uri="{BB962C8B-B14F-4D97-AF65-F5344CB8AC3E}">
        <p14:creationId xmlns:p14="http://schemas.microsoft.com/office/powerpoint/2010/main" val="21453636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72E3238-43AE-4334-AA28-BAD0D384FC57}"/>
              </a:ext>
            </a:extLst>
          </p:cNvPr>
          <p:cNvSpPr>
            <a:spLocks xmlns:a="http://schemas.openxmlformats.org/drawingml/2006/main" noGrp="1"/>
          </p:cNvSpPr>
          <p:nvPr/>
        </p:nvSpPr>
        <p:spPr>
          <a:xfrm xmlns:a="http://schemas.openxmlformats.org/drawingml/2006/main">
            <a:off x="609600" y="2952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3"/>
                </a:solidFill>
                <a:latin typeface="Liberation Sans"/>
                <a:ea typeface="Liberation Sans"/>
                <a:cs typeface="Liberation Sans"/>
              </a:defRPr>
            </a:pPr>
            <a:r>
              <a:rPr sz="1200" b="1">
                <a:solidFill>
                  <a:srgbClr val="087F83"/>
                </a:solidFill>
                <a:latin typeface="Liberation Sans"/>
                <a:ea typeface="Liberation Sans"/>
                <a:cs typeface="Liberation Sans"/>
              </a:rPr>
              <a:t>PUBLIC DATA · OCTOBER 2026</a:t>
            </a:r>
          </a:p>
        </p:txBody>
      </p:sp>
      <p:sp>
        <p:nvSpPr>
          <p:cNvPr id="2" name="">
            <a:extLst xmlns:a="http://schemas.openxmlformats.org/drawingml/2006/main">
              <a:ext uri="{FF2B5EF4-FFF2-40B4-BE49-F238E27FC236}">
                <a16:creationId xmlns:a16="http://schemas.microsoft.com/office/drawing/2014/main" id="{6B861C28-DCB3-490D-B341-EE1DC841D847}"/>
              </a:ext>
            </a:extLst>
          </p:cNvPr>
          <p:cNvSpPr>
            <a:spLocks xmlns:a="http://schemas.openxmlformats.org/drawingml/2006/main" noGrp="1"/>
          </p:cNvSpPr>
          <p:nvPr/>
        </p:nvSpPr>
        <p:spPr>
          <a:xfrm xmlns:a="http://schemas.openxmlformats.org/drawingml/2006/main">
            <a:off x="609600" y="781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Existing data reduce what we need to collect</a:t>
            </a:r>
          </a:p>
        </p:txBody>
      </p:sp>
      <p:sp>
        <p:nvSpPr>
          <p:cNvPr id="3" name="">
            <a:extLst xmlns:a="http://schemas.openxmlformats.org/drawingml/2006/main">
              <a:ext uri="{FF2B5EF4-FFF2-40B4-BE49-F238E27FC236}">
                <a16:creationId xmlns:a16="http://schemas.microsoft.com/office/drawing/2014/main" id="{DD3F8C32-1DBB-42EC-86FF-6A576E196A86}"/>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82722A-8306-4FF9-B471-0483E1A5ECD7}"/>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671"/>
                </a:solidFill>
                <a:latin typeface="Liberation Sans"/>
                <a:ea typeface="Liberation Sans"/>
                <a:cs typeface="Liberation Sans"/>
              </a:defRPr>
            </a:pPr>
            <a:r>
              <a:rPr sz="1050" b="0">
                <a:solidFill>
                  <a:srgbClr val="536671"/>
                </a:solidFill>
                <a:latin typeface="Liberation Sans"/>
                <a:ea typeface="Liberation Sans"/>
                <a:cs typeface="Liberation Sans"/>
              </a:rPr>
              <a:t>FRG / SproutSeeds  ·  Computational findings; biological claims remain Heuristic</a:t>
            </a:r>
          </a:p>
        </p:txBody>
      </p:sp>
      <p:sp>
        <p:nvSpPr>
          <p:cNvPr id="5" name="">
            <a:extLst xmlns:a="http://schemas.openxmlformats.org/drawingml/2006/main">
              <a:ext uri="{FF2B5EF4-FFF2-40B4-BE49-F238E27FC236}">
                <a16:creationId xmlns:a16="http://schemas.microsoft.com/office/drawing/2014/main" id="{E14A329C-B77B-44A1-A182-547994F43CE2}"/>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03</a:t>
            </a:r>
          </a:p>
        </p:txBody>
      </p:sp>
      <p:sp>
        <p:nvSpPr>
          <p:cNvPr id="6" name="">
            <a:extLst xmlns:a="http://schemas.openxmlformats.org/drawingml/2006/main">
              <a:ext uri="{FF2B5EF4-FFF2-40B4-BE49-F238E27FC236}">
                <a16:creationId xmlns:a16="http://schemas.microsoft.com/office/drawing/2014/main" id="{71220F08-899F-4940-AABC-6C4565A4D2F6}"/>
              </a:ext>
            </a:extLst>
          </p:cNvPr>
          <p:cNvSpPr>
            <a:spLocks xmlns:a="http://schemas.openxmlformats.org/drawingml/2006/main" noGrp="1"/>
          </p:cNvSpPr>
          <p:nvPr/>
        </p:nvSpPr>
        <p:spPr>
          <a:xfrm xmlns:a="http://schemas.openxmlformats.org/drawingml/2006/main">
            <a:off x="609600" y="192405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Liberation Sans"/>
                <a:ea typeface="Liberation Sans"/>
                <a:cs typeface="Liberation Sans"/>
              </a:defRPr>
            </a:pPr>
            <a:r>
              <a:rPr sz="2175" b="1">
                <a:solidFill>
                  <a:srgbClr val="087F83"/>
                </a:solidFill>
                <a:latin typeface="Liberation Sans"/>
                <a:ea typeface="Liberation Sans"/>
                <a:cs typeface="Liberation Sans"/>
              </a:rPr>
              <a:t>Human perturbations</a:t>
            </a:r>
          </a:p>
        </p:txBody>
      </p:sp>
      <p:sp>
        <p:nvSpPr>
          <p:cNvPr id="7" name="">
            <a:extLst xmlns:a="http://schemas.openxmlformats.org/drawingml/2006/main">
              <a:ext uri="{FF2B5EF4-FFF2-40B4-BE49-F238E27FC236}">
                <a16:creationId xmlns:a16="http://schemas.microsoft.com/office/drawing/2014/main" id="{8DEBF462-4F5E-4A1D-AA92-97885963E869}"/>
              </a:ext>
            </a:extLst>
          </p:cNvPr>
          <p:cNvSpPr>
            <a:spLocks xmlns:a="http://schemas.openxmlformats.org/drawingml/2006/main" noGrp="1"/>
          </p:cNvSpPr>
          <p:nvPr/>
        </p:nvSpPr>
        <p:spPr>
          <a:xfrm xmlns:a="http://schemas.openxmlformats.org/drawingml/2006/main">
            <a:off x="4048125" y="1924050"/>
            <a:ext cx="7381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E3A"/>
                </a:solidFill>
                <a:latin typeface="Liberation Sans"/>
                <a:ea typeface="Liberation Sans"/>
                <a:cs typeface="Liberation Sans"/>
              </a:defRPr>
            </a:pPr>
            <a:r>
              <a:rPr sz="1950" b="0">
                <a:solidFill>
                  <a:srgbClr val="142E3A"/>
                </a:solidFill>
                <a:latin typeface="Liberation Sans"/>
                <a:ea typeface="Liberation Sans"/>
                <a:cs typeface="Liberation Sans"/>
              </a:rPr>
              <a:t>36,514 cells; guide assignments reconstructed and audited</a:t>
            </a:r>
          </a:p>
        </p:txBody>
      </p:sp>
      <p:sp>
        <p:nvSpPr>
          <p:cNvPr id="8" name="">
            <a:extLst xmlns:a="http://schemas.openxmlformats.org/drawingml/2006/main">
              <a:ext uri="{FF2B5EF4-FFF2-40B4-BE49-F238E27FC236}">
                <a16:creationId xmlns:a16="http://schemas.microsoft.com/office/drawing/2014/main" id="{D5BF171A-88FF-4CC7-8209-50D9A2813480}"/>
              </a:ext>
            </a:extLst>
          </p:cNvPr>
          <p:cNvSpPr>
            <a:spLocks xmlns:a="http://schemas.openxmlformats.org/drawingml/2006/main" noGrp="1"/>
          </p:cNvSpPr>
          <p:nvPr/>
        </p:nvSpPr>
        <p:spPr>
          <a:xfrm xmlns:a="http://schemas.openxmlformats.org/drawingml/2006/main">
            <a:off x="609600" y="281940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Liberation Sans"/>
                <a:ea typeface="Liberation Sans"/>
                <a:cs typeface="Liberation Sans"/>
              </a:defRPr>
            </a:pPr>
            <a:r>
              <a:rPr sz="2175" b="1">
                <a:solidFill>
                  <a:srgbClr val="087F83"/>
                </a:solidFill>
                <a:latin typeface="Liberation Sans"/>
                <a:ea typeface="Liberation Sans"/>
                <a:cs typeface="Liberation Sans"/>
              </a:rPr>
              <a:t>Human recovery</a:t>
            </a:r>
          </a:p>
        </p:txBody>
      </p:sp>
      <p:sp>
        <p:nvSpPr>
          <p:cNvPr id="9" name="">
            <a:extLst xmlns:a="http://schemas.openxmlformats.org/drawingml/2006/main">
              <a:ext uri="{FF2B5EF4-FFF2-40B4-BE49-F238E27FC236}">
                <a16:creationId xmlns:a16="http://schemas.microsoft.com/office/drawing/2014/main" id="{9403A0AE-8146-44C8-8E77-51CAB38E0165}"/>
              </a:ext>
            </a:extLst>
          </p:cNvPr>
          <p:cNvSpPr>
            <a:spLocks xmlns:a="http://schemas.openxmlformats.org/drawingml/2006/main" noGrp="1"/>
          </p:cNvSpPr>
          <p:nvPr/>
        </p:nvSpPr>
        <p:spPr>
          <a:xfrm xmlns:a="http://schemas.openxmlformats.org/drawingml/2006/main">
            <a:off x="4048125" y="2819400"/>
            <a:ext cx="7381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E3A"/>
                </a:solidFill>
                <a:latin typeface="Liberation Sans"/>
                <a:ea typeface="Liberation Sans"/>
                <a:cs typeface="Liberation Sans"/>
              </a:defRPr>
            </a:pPr>
            <a:r>
              <a:rPr sz="1950" b="0">
                <a:solidFill>
                  <a:srgbClr val="142E3A"/>
                </a:solidFill>
                <a:latin typeface="Liberation Sans"/>
                <a:ea typeface="Liberation Sans"/>
                <a:cs typeface="Liberation Sans"/>
              </a:rPr>
              <a:t>Three-donor SRSF1 diagnostic; earlier bulk recovery comparators</a:t>
            </a:r>
          </a:p>
        </p:txBody>
      </p:sp>
      <p:sp>
        <p:nvSpPr>
          <p:cNvPr id="10" name="">
            <a:extLst xmlns:a="http://schemas.openxmlformats.org/drawingml/2006/main">
              <a:ext uri="{FF2B5EF4-FFF2-40B4-BE49-F238E27FC236}">
                <a16:creationId xmlns:a16="http://schemas.microsoft.com/office/drawing/2014/main" id="{1EE67C4C-EA98-4A7E-8EE4-D46B06A2B148}"/>
              </a:ext>
            </a:extLst>
          </p:cNvPr>
          <p:cNvSpPr>
            <a:spLocks xmlns:a="http://schemas.openxmlformats.org/drawingml/2006/main" noGrp="1"/>
          </p:cNvSpPr>
          <p:nvPr/>
        </p:nvSpPr>
        <p:spPr>
          <a:xfrm xmlns:a="http://schemas.openxmlformats.org/drawingml/2006/main">
            <a:off x="609600" y="371475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Liberation Sans"/>
                <a:ea typeface="Liberation Sans"/>
                <a:cs typeface="Liberation Sans"/>
              </a:defRPr>
            </a:pPr>
            <a:r>
              <a:rPr sz="2175" b="1">
                <a:solidFill>
                  <a:srgbClr val="087F83"/>
                </a:solidFill>
                <a:latin typeface="Liberation Sans"/>
                <a:ea typeface="Liberation Sans"/>
                <a:cs typeface="Liberation Sans"/>
              </a:rPr>
              <a:t>Ocular measurements</a:t>
            </a:r>
          </a:p>
        </p:txBody>
      </p:sp>
      <p:sp>
        <p:nvSpPr>
          <p:cNvPr id="11" name="">
            <a:extLst xmlns:a="http://schemas.openxmlformats.org/drawingml/2006/main">
              <a:ext uri="{FF2B5EF4-FFF2-40B4-BE49-F238E27FC236}">
                <a16:creationId xmlns:a16="http://schemas.microsoft.com/office/drawing/2014/main" id="{4401056C-FCF3-4B51-A81C-5C4D12925E43}"/>
              </a:ext>
            </a:extLst>
          </p:cNvPr>
          <p:cNvSpPr>
            <a:spLocks xmlns:a="http://schemas.openxmlformats.org/drawingml/2006/main" noGrp="1"/>
          </p:cNvSpPr>
          <p:nvPr/>
        </p:nvSpPr>
        <p:spPr>
          <a:xfrm xmlns:a="http://schemas.openxmlformats.org/drawingml/2006/main">
            <a:off x="4048125" y="3714750"/>
            <a:ext cx="7381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E3A"/>
                </a:solidFill>
                <a:latin typeface="Liberation Sans"/>
                <a:ea typeface="Liberation Sans"/>
                <a:cs typeface="Liberation Sans"/>
              </a:defRPr>
            </a:pPr>
            <a:r>
              <a:rPr sz="1950" b="0">
                <a:solidFill>
                  <a:srgbClr val="142E3A"/>
                </a:solidFill>
                <a:latin typeface="Liberation Sans"/>
                <a:ea typeface="Liberation Sans"/>
                <a:cs typeface="Liberation Sans"/>
              </a:rPr>
              <a:t>Mouse RPE sensitivity analysis; exact clock replay still pending</a:t>
            </a:r>
          </a:p>
        </p:txBody>
      </p:sp>
      <p:sp>
        <p:nvSpPr>
          <p:cNvPr id="12" name="">
            <a:extLst xmlns:a="http://schemas.openxmlformats.org/drawingml/2006/main">
              <a:ext uri="{FF2B5EF4-FFF2-40B4-BE49-F238E27FC236}">
                <a16:creationId xmlns:a16="http://schemas.microsoft.com/office/drawing/2014/main" id="{134AD0B7-0572-4C71-AD89-A378B6C97A03}"/>
              </a:ext>
            </a:extLst>
          </p:cNvPr>
          <p:cNvSpPr>
            <a:spLocks xmlns:a="http://schemas.openxmlformats.org/drawingml/2006/main" noGrp="1"/>
          </p:cNvSpPr>
          <p:nvPr/>
        </p:nvSpPr>
        <p:spPr>
          <a:xfrm xmlns:a="http://schemas.openxmlformats.org/drawingml/2006/main">
            <a:off x="609600" y="461010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Liberation Sans"/>
                <a:ea typeface="Liberation Sans"/>
                <a:cs typeface="Liberation Sans"/>
              </a:defRPr>
            </a:pPr>
            <a:r>
              <a:rPr sz="2175" b="1">
                <a:solidFill>
                  <a:srgbClr val="087F83"/>
                </a:solidFill>
                <a:latin typeface="Liberation Sans"/>
                <a:ea typeface="Liberation Sans"/>
                <a:cs typeface="Liberation Sans"/>
              </a:rPr>
              <a:t>Observed withdrawal</a:t>
            </a:r>
          </a:p>
        </p:txBody>
      </p:sp>
      <p:sp>
        <p:nvSpPr>
          <p:cNvPr id="13" name="">
            <a:extLst xmlns:a="http://schemas.openxmlformats.org/drawingml/2006/main">
              <a:ext uri="{FF2B5EF4-FFF2-40B4-BE49-F238E27FC236}">
                <a16:creationId xmlns:a16="http://schemas.microsoft.com/office/drawing/2014/main" id="{9FDE4BA8-4C6E-41DA-A7E9-C5FC073D8D1F}"/>
              </a:ext>
            </a:extLst>
          </p:cNvPr>
          <p:cNvSpPr>
            <a:spLocks xmlns:a="http://schemas.openxmlformats.org/drawingml/2006/main" noGrp="1"/>
          </p:cNvSpPr>
          <p:nvPr/>
        </p:nvSpPr>
        <p:spPr>
          <a:xfrm xmlns:a="http://schemas.openxmlformats.org/drawingml/2006/main">
            <a:off x="4048125" y="4610100"/>
            <a:ext cx="7381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E3A"/>
                </a:solidFill>
                <a:latin typeface="Liberation Sans"/>
                <a:ea typeface="Liberation Sans"/>
                <a:cs typeface="Liberation Sans"/>
              </a:defRPr>
            </a:pPr>
            <a:r>
              <a:rPr sz="1950" b="0">
                <a:solidFill>
                  <a:srgbClr val="142E3A"/>
                </a:solidFill>
                <a:latin typeface="Liberation Sans"/>
                <a:ea typeface="Liberation Sans"/>
                <a:cs typeface="Liberation Sans"/>
              </a:rPr>
              <a:t>Mouse liver factor-off data; useful within its own biological scope</a:t>
            </a:r>
          </a:p>
        </p:txBody>
      </p:sp>
      <p:sp>
        <p:nvSpPr>
          <p:cNvPr id="14" name="">
            <a:extLst xmlns:a="http://schemas.openxmlformats.org/drawingml/2006/main">
              <a:ext uri="{FF2B5EF4-FFF2-40B4-BE49-F238E27FC236}">
                <a16:creationId xmlns:a16="http://schemas.microsoft.com/office/drawing/2014/main" id="{A0C127C3-9A79-4A88-8587-DE2AB375F490}"/>
              </a:ext>
            </a:extLst>
          </p:cNvPr>
          <p:cNvSpPr>
            <a:spLocks xmlns:a="http://schemas.openxmlformats.org/drawingml/2006/main" noGrp="1"/>
          </p:cNvSpPr>
          <p:nvPr/>
        </p:nvSpPr>
        <p:spPr>
          <a:xfrm xmlns:a="http://schemas.openxmlformats.org/drawingml/2006/main">
            <a:off x="609600" y="567690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671"/>
                </a:solidFill>
                <a:latin typeface="Liberation Sans"/>
                <a:ea typeface="Liberation Sans"/>
                <a:cs typeface="Liberation Sans"/>
              </a:defRPr>
            </a:pPr>
            <a:r>
              <a:rPr sz="1575" b="0">
                <a:solidFill>
                  <a:srgbClr val="536671"/>
                </a:solidFill>
                <a:latin typeface="Liberation Sans"/>
                <a:ea typeface="Liberation Sans"/>
                <a:cs typeface="Liberation Sans"/>
              </a:rPr>
              <a:t>Original experiments retain their authorship. Our work is reanalysis and evidence evaluation.</a:t>
            </a:r>
          </a:p>
        </p:txBody>
      </p:sp>
    </p:spTree>
    <p:extLst>
      <p:ext uri="{BB962C8B-B14F-4D97-AF65-F5344CB8AC3E}">
        <p14:creationId xmlns:p14="http://schemas.microsoft.com/office/powerpoint/2010/main" val="3092146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49CDBE-8669-4CA2-8EFC-8C8E3D482082}"/>
              </a:ext>
            </a:extLst>
          </p:cNvPr>
          <p:cNvSpPr>
            <a:spLocks xmlns:a="http://schemas.openxmlformats.org/drawingml/2006/main" noGrp="1"/>
          </p:cNvSpPr>
          <p:nvPr/>
        </p:nvSpPr>
        <p:spPr>
          <a:xfrm xmlns:a="http://schemas.openxmlformats.org/drawingml/2006/main">
            <a:off x="609600" y="2952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3"/>
                </a:solidFill>
                <a:latin typeface="Liberation Sans"/>
                <a:ea typeface="Liberation Sans"/>
                <a:cs typeface="Liberation Sans"/>
              </a:defRPr>
            </a:pPr>
            <a:r>
              <a:rPr sz="1200" b="1">
                <a:solidFill>
                  <a:srgbClr val="087F83"/>
                </a:solidFill>
                <a:latin typeface="Liberation Sans"/>
                <a:ea typeface="Liberation Sans"/>
                <a:cs typeface="Liberation Sans"/>
              </a:rPr>
              <a:t>PUBLIC DATA · OCTOBER 2026</a:t>
            </a:r>
          </a:p>
        </p:txBody>
      </p:sp>
      <p:sp>
        <p:nvSpPr>
          <p:cNvPr id="2" name="">
            <a:extLst xmlns:a="http://schemas.openxmlformats.org/drawingml/2006/main">
              <a:ext uri="{FF2B5EF4-FFF2-40B4-BE49-F238E27FC236}">
                <a16:creationId xmlns:a16="http://schemas.microsoft.com/office/drawing/2014/main" id="{B4736F96-9D86-4377-95FA-DA1414E47F7E}"/>
              </a:ext>
            </a:extLst>
          </p:cNvPr>
          <p:cNvSpPr>
            <a:spLocks xmlns:a="http://schemas.openxmlformats.org/drawingml/2006/main" noGrp="1"/>
          </p:cNvSpPr>
          <p:nvPr/>
        </p:nvSpPr>
        <p:spPr>
          <a:xfrm xmlns:a="http://schemas.openxmlformats.org/drawingml/2006/main">
            <a:off x="609600" y="781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The paired-guide design changes the analysis</a:t>
            </a:r>
          </a:p>
        </p:txBody>
      </p:sp>
      <p:sp>
        <p:nvSpPr>
          <p:cNvPr id="3" name="">
            <a:extLst xmlns:a="http://schemas.openxmlformats.org/drawingml/2006/main">
              <a:ext uri="{FF2B5EF4-FFF2-40B4-BE49-F238E27FC236}">
                <a16:creationId xmlns:a16="http://schemas.microsoft.com/office/drawing/2014/main" id="{0299255F-3E4E-48EE-A013-87BA94CB6EE4}"/>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DD064B-27A2-453C-B670-93769C823159}"/>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671"/>
                </a:solidFill>
                <a:latin typeface="Liberation Sans"/>
                <a:ea typeface="Liberation Sans"/>
                <a:cs typeface="Liberation Sans"/>
              </a:defRPr>
            </a:pPr>
            <a:r>
              <a:rPr sz="1050" b="0">
                <a:solidFill>
                  <a:srgbClr val="536671"/>
                </a:solidFill>
                <a:latin typeface="Liberation Sans"/>
                <a:ea typeface="Liberation Sans"/>
                <a:cs typeface="Liberation Sans"/>
              </a:rPr>
              <a:t>FRG / SproutSeeds  ·  Computational findings; biological claims remain Heuristic</a:t>
            </a:r>
          </a:p>
        </p:txBody>
      </p:sp>
      <p:sp>
        <p:nvSpPr>
          <p:cNvPr id="5" name="">
            <a:extLst xmlns:a="http://schemas.openxmlformats.org/drawingml/2006/main">
              <a:ext uri="{FF2B5EF4-FFF2-40B4-BE49-F238E27FC236}">
                <a16:creationId xmlns:a16="http://schemas.microsoft.com/office/drawing/2014/main" id="{9A9D9492-0252-4F26-BA15-B2F08E29307E}"/>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04</a:t>
            </a:r>
          </a:p>
        </p:txBody>
      </p:sp>
      <p:graphicFrame>
        <p:nvGraphicFramePr>
          <p:cNvPr id="16" name="Chart"/>
          <p:cNvGraphicFramePr/>
          <p:nvPr/>
        </p:nvGraphicFramePr>
        <p:xfrm>
          <a:off xmlns:a="http://schemas.openxmlformats.org/drawingml/2006/main" x="609600" y="1952625"/>
          <a:ext xmlns:a="http://schemas.openxmlformats.org/drawingml/2006/main" cx="6858000" cy="3619500"/>
        </p:xfrm>
        <a:graphic xmlns:a="http://schemas.openxmlformats.org/drawingml/2006/main">
          <a:graphicData uri="http://schemas.openxmlformats.org/drawingml/2006/chart">
            <c:chart xmlns:r="http://schemas.openxmlformats.org/officeDocument/2006/relationships" xmlns:c="http://schemas.openxmlformats.org/drawingml/2006/chart" r:id="R1494705d3b244803"/>
          </a:graphicData>
        </a:graphic>
      </p:graphicFrame>
      <p:sp>
        <p:nvSpPr>
          <p:cNvPr id="7" name="">
            <a:extLst xmlns:a="http://schemas.openxmlformats.org/drawingml/2006/main">
              <a:ext uri="{FF2B5EF4-FFF2-40B4-BE49-F238E27FC236}">
                <a16:creationId xmlns:a16="http://schemas.microsoft.com/office/drawing/2014/main" id="{8A8F4024-684B-48C2-BF46-4E0C5973FF3D}"/>
              </a:ext>
            </a:extLst>
          </p:cNvPr>
          <p:cNvSpPr>
            <a:spLocks xmlns:a="http://schemas.openxmlformats.org/drawingml/2006/main" noGrp="1"/>
          </p:cNvSpPr>
          <p:nvPr/>
        </p:nvSpPr>
        <p:spPr>
          <a:xfrm xmlns:a="http://schemas.openxmlformats.org/drawingml/2006/main">
            <a:off x="8096250" y="19812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87F83"/>
                </a:solidFill>
                <a:latin typeface="Liberation Sans"/>
                <a:ea typeface="Liberation Sans"/>
                <a:cs typeface="Liberation Sans"/>
              </a:defRPr>
            </a:pPr>
            <a:r>
              <a:rPr sz="5700" b="1">
                <a:solidFill>
                  <a:srgbClr val="087F83"/>
                </a:solidFill>
                <a:latin typeface="Liberation Sans"/>
                <a:ea typeface="Liberation Sans"/>
                <a:cs typeface="Liberation Sans"/>
              </a:rPr>
              <a:t>208</a:t>
            </a:r>
          </a:p>
        </p:txBody>
      </p:sp>
      <p:sp>
        <p:nvSpPr>
          <p:cNvPr id="8" name="">
            <a:extLst xmlns:a="http://schemas.openxmlformats.org/drawingml/2006/main">
              <a:ext uri="{FF2B5EF4-FFF2-40B4-BE49-F238E27FC236}">
                <a16:creationId xmlns:a16="http://schemas.microsoft.com/office/drawing/2014/main" id="{6577BD6F-2698-478E-9C9C-3D5A3F8E7F5C}"/>
              </a:ext>
            </a:extLst>
          </p:cNvPr>
          <p:cNvSpPr>
            <a:spLocks xmlns:a="http://schemas.openxmlformats.org/drawingml/2006/main" noGrp="1"/>
          </p:cNvSpPr>
          <p:nvPr/>
        </p:nvSpPr>
        <p:spPr>
          <a:xfrm xmlns:a="http://schemas.openxmlformats.org/drawingml/2006/main">
            <a:off x="8096250" y="29527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E3A"/>
                </a:solidFill>
                <a:latin typeface="Liberation Sans"/>
                <a:ea typeface="Liberation Sans"/>
                <a:cs typeface="Liberation Sans"/>
              </a:defRPr>
            </a:pPr>
            <a:r>
              <a:rPr sz="2025" b="1">
                <a:solidFill>
                  <a:srgbClr val="142E3A"/>
                </a:solidFill>
                <a:latin typeface="Liberation Sans"/>
                <a:ea typeface="Liberation Sans"/>
                <a:cs typeface="Liberation Sans"/>
              </a:rPr>
              <a:t>eligible comparisons</a:t>
            </a:r>
          </a:p>
        </p:txBody>
      </p:sp>
      <p:sp>
        <p:nvSpPr>
          <p:cNvPr id="9" name="">
            <a:extLst xmlns:a="http://schemas.openxmlformats.org/drawingml/2006/main">
              <a:ext uri="{FF2B5EF4-FFF2-40B4-BE49-F238E27FC236}">
                <a16:creationId xmlns:a16="http://schemas.microsoft.com/office/drawing/2014/main" id="{89BF0BE4-97B6-4F38-9982-04018D7F612F}"/>
              </a:ext>
            </a:extLst>
          </p:cNvPr>
          <p:cNvSpPr>
            <a:spLocks xmlns:a="http://schemas.openxmlformats.org/drawingml/2006/main" noGrp="1"/>
          </p:cNvSpPr>
          <p:nvPr/>
        </p:nvSpPr>
        <p:spPr>
          <a:xfrm xmlns:a="http://schemas.openxmlformats.org/drawingml/2006/main">
            <a:off x="8096250" y="3638550"/>
            <a:ext cx="3333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Both targeting guides count.</a:t>
            </a:r>
          </a:p>
          <a:p xmlns:a="http://schemas.openxmlformats.org/drawingml/2006/main">
            <a:r>
              <a:t/>
            </a:r>
          </a:p>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EZH2 moves toward zero.</a:t>
            </a:r>
          </a:p>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E2F3 fails the expected target-direction check.</a:t>
            </a:r>
          </a:p>
        </p:txBody>
      </p:sp>
      <p:sp>
        <p:nvSpPr>
          <p:cNvPr id="10" name="">
            <a:extLst xmlns:a="http://schemas.openxmlformats.org/drawingml/2006/main">
              <a:ext uri="{FF2B5EF4-FFF2-40B4-BE49-F238E27FC236}">
                <a16:creationId xmlns:a16="http://schemas.microsoft.com/office/drawing/2014/main" id="{CDD82EE8-B88F-42C3-9DF4-EEA2EC2F4474}"/>
              </a:ext>
            </a:extLst>
          </p:cNvPr>
          <p:cNvSpPr>
            <a:spLocks xmlns:a="http://schemas.openxmlformats.org/drawingml/2006/main" noGrp="1"/>
          </p:cNvSpPr>
          <p:nvPr/>
        </p:nvSpPr>
        <p:spPr>
          <a:xfrm xmlns:a="http://schemas.openxmlformats.org/drawingml/2006/main">
            <a:off x="609600" y="57054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671"/>
                </a:solidFill>
                <a:latin typeface="Liberation Sans"/>
                <a:ea typeface="Liberation Sans"/>
                <a:cs typeface="Liberation Sans"/>
              </a:defRPr>
            </a:pPr>
            <a:r>
              <a:rPr sz="1575" b="0">
                <a:solidFill>
                  <a:srgbClr val="536671"/>
                </a:solidFill>
                <a:latin typeface="Liberation Sans"/>
                <a:ea typeface="Liberation Sans"/>
                <a:cs typeface="Liberation Sans"/>
              </a:rPr>
              <a:t>Comparisons require ≥20 target and ≥20 matched NT cells. Reconstructed assignments.</a:t>
            </a:r>
          </a:p>
        </p:txBody>
      </p:sp>
    </p:spTree>
    <p:extLst>
      <p:ext uri="{BB962C8B-B14F-4D97-AF65-F5344CB8AC3E}">
        <p14:creationId xmlns:p14="http://schemas.microsoft.com/office/powerpoint/2010/main" val="2615758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75CC47-B0EF-4FE6-8481-D8F41D57DE0C}"/>
              </a:ext>
            </a:extLst>
          </p:cNvPr>
          <p:cNvSpPr>
            <a:spLocks xmlns:a="http://schemas.openxmlformats.org/drawingml/2006/main" noGrp="1"/>
          </p:cNvSpPr>
          <p:nvPr/>
        </p:nvSpPr>
        <p:spPr>
          <a:xfrm xmlns:a="http://schemas.openxmlformats.org/drawingml/2006/main">
            <a:off x="609600" y="2952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3"/>
                </a:solidFill>
                <a:latin typeface="Liberation Sans"/>
                <a:ea typeface="Liberation Sans"/>
                <a:cs typeface="Liberation Sans"/>
              </a:defRPr>
            </a:pPr>
            <a:r>
              <a:rPr sz="1200" b="1">
                <a:solidFill>
                  <a:srgbClr val="087F83"/>
                </a:solidFill>
                <a:latin typeface="Liberation Sans"/>
                <a:ea typeface="Liberation Sans"/>
                <a:cs typeface="Liberation Sans"/>
              </a:rPr>
              <a:t>PUBLIC DATA · OCTOBER 2026</a:t>
            </a:r>
          </a:p>
        </p:txBody>
      </p:sp>
      <p:sp>
        <p:nvSpPr>
          <p:cNvPr id="2" name="">
            <a:extLst xmlns:a="http://schemas.openxmlformats.org/drawingml/2006/main">
              <a:ext uri="{FF2B5EF4-FFF2-40B4-BE49-F238E27FC236}">
                <a16:creationId xmlns:a16="http://schemas.microsoft.com/office/drawing/2014/main" id="{9AC996D6-5247-433A-A594-D480B3A3F19B}"/>
              </a:ext>
            </a:extLst>
          </p:cNvPr>
          <p:cNvSpPr>
            <a:spLocks xmlns:a="http://schemas.openxmlformats.org/drawingml/2006/main" noGrp="1"/>
          </p:cNvSpPr>
          <p:nvPr/>
        </p:nvSpPr>
        <p:spPr>
          <a:xfrm xmlns:a="http://schemas.openxmlformats.org/drawingml/2006/main">
            <a:off x="609600" y="781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The ocular endpoint needs to be named precisely</a:t>
            </a:r>
          </a:p>
        </p:txBody>
      </p:sp>
      <p:sp>
        <p:nvSpPr>
          <p:cNvPr id="3" name="">
            <a:extLst xmlns:a="http://schemas.openxmlformats.org/drawingml/2006/main">
              <a:ext uri="{FF2B5EF4-FFF2-40B4-BE49-F238E27FC236}">
                <a16:creationId xmlns:a16="http://schemas.microsoft.com/office/drawing/2014/main" id="{10FF2A0E-A5C0-4D8D-996E-07FB5CDF6418}"/>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FF2BE9-6B8C-422C-B425-804613EFF5A9}"/>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671"/>
                </a:solidFill>
                <a:latin typeface="Liberation Sans"/>
                <a:ea typeface="Liberation Sans"/>
                <a:cs typeface="Liberation Sans"/>
              </a:defRPr>
            </a:pPr>
            <a:r>
              <a:rPr sz="1050" b="0">
                <a:solidFill>
                  <a:srgbClr val="536671"/>
                </a:solidFill>
                <a:latin typeface="Liberation Sans"/>
                <a:ea typeface="Liberation Sans"/>
                <a:cs typeface="Liberation Sans"/>
              </a:rPr>
              <a:t>FRG / SproutSeeds  ·  Computational findings; biological claims remain Heuristic</a:t>
            </a:r>
          </a:p>
        </p:txBody>
      </p:sp>
      <p:sp>
        <p:nvSpPr>
          <p:cNvPr id="5" name="">
            <a:extLst xmlns:a="http://schemas.openxmlformats.org/drawingml/2006/main">
              <a:ext uri="{FF2B5EF4-FFF2-40B4-BE49-F238E27FC236}">
                <a16:creationId xmlns:a16="http://schemas.microsoft.com/office/drawing/2014/main" id="{433BA490-82C6-412A-903A-6B7B89AFB87B}"/>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05</a:t>
            </a:r>
          </a:p>
        </p:txBody>
      </p:sp>
      <p:sp>
        <p:nvSpPr>
          <p:cNvPr id="6" name="">
            <a:extLst xmlns:a="http://schemas.openxmlformats.org/drawingml/2006/main">
              <a:ext uri="{FF2B5EF4-FFF2-40B4-BE49-F238E27FC236}">
                <a16:creationId xmlns:a16="http://schemas.microsoft.com/office/drawing/2014/main" id="{3FFFA59E-C302-47CB-8574-150DFB4A48FD}"/>
              </a:ext>
            </a:extLst>
          </p:cNvPr>
          <p:cNvSpPr>
            <a:spLocks xmlns:a="http://schemas.openxmlformats.org/drawingml/2006/main" noGrp="1"/>
          </p:cNvSpPr>
          <p:nvPr/>
        </p:nvSpPr>
        <p:spPr>
          <a:xfrm xmlns:a="http://schemas.openxmlformats.org/drawingml/2006/main">
            <a:off x="609600" y="1971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087F83"/>
                </a:solidFill>
                <a:latin typeface="Liberation Sans"/>
                <a:ea typeface="Liberation Sans"/>
                <a:cs typeface="Liberation Sans"/>
              </a:defRPr>
            </a:pPr>
            <a:r>
              <a:rPr sz="4950" b="1">
                <a:solidFill>
                  <a:srgbClr val="087F83"/>
                </a:solidFill>
                <a:latin typeface="Liberation Sans"/>
                <a:ea typeface="Liberation Sans"/>
                <a:cs typeface="Liberation Sans"/>
              </a:rPr>
              <a:t>+0.663 to +0.694</a:t>
            </a:r>
          </a:p>
        </p:txBody>
      </p:sp>
      <p:sp>
        <p:nvSpPr>
          <p:cNvPr id="7" name="">
            <a:extLst xmlns:a="http://schemas.openxmlformats.org/drawingml/2006/main">
              <a:ext uri="{FF2B5EF4-FFF2-40B4-BE49-F238E27FC236}">
                <a16:creationId xmlns:a16="http://schemas.microsoft.com/office/drawing/2014/main" id="{A5C9C67B-E6A8-4758-BFFE-979EC45DBBC5}"/>
              </a:ext>
            </a:extLst>
          </p:cNvPr>
          <p:cNvSpPr>
            <a:spLocks xmlns:a="http://schemas.openxmlformats.org/drawingml/2006/main" noGrp="1"/>
          </p:cNvSpPr>
          <p:nvPr/>
        </p:nvSpPr>
        <p:spPr>
          <a:xfrm xmlns:a="http://schemas.openxmlformats.org/drawingml/2006/main">
            <a:off x="609600" y="3076575"/>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E3A"/>
                </a:solidFill>
                <a:latin typeface="Liberation Sans"/>
                <a:ea typeface="Liberation Sans"/>
                <a:cs typeface="Liberation Sans"/>
              </a:defRPr>
            </a:pPr>
            <a:r>
              <a:rPr sz="2175" b="1">
                <a:solidFill>
                  <a:srgbClr val="142E3A"/>
                </a:solidFill>
                <a:latin typeface="Liberation Sans"/>
                <a:ea typeface="Liberation Sans"/>
                <a:cs typeface="Liberation Sans"/>
              </a:rPr>
              <a:t>Broad expression correlation across six fixed sensitivities</a:t>
            </a:r>
          </a:p>
        </p:txBody>
      </p:sp>
      <p:sp>
        <p:nvSpPr>
          <p:cNvPr id="8" name="">
            <a:extLst xmlns:a="http://schemas.openxmlformats.org/drawingml/2006/main">
              <a:ext uri="{FF2B5EF4-FFF2-40B4-BE49-F238E27FC236}">
                <a16:creationId xmlns:a16="http://schemas.microsoft.com/office/drawing/2014/main" id="{BDF17D2F-A956-4220-8415-A82E073F5F6A}"/>
              </a:ext>
            </a:extLst>
          </p:cNvPr>
          <p:cNvSpPr>
            <a:spLocks xmlns:a="http://schemas.openxmlformats.org/drawingml/2006/main" noGrp="1"/>
          </p:cNvSpPr>
          <p:nvPr/>
        </p:nvSpPr>
        <p:spPr>
          <a:xfrm xmlns:a="http://schemas.openxmlformats.org/drawingml/2006/main">
            <a:off x="609600" y="3905250"/>
            <a:ext cx="105727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A"/>
                </a:solidFill>
                <a:latin typeface="Liberation Sans"/>
                <a:ea typeface="Liberation Sans"/>
                <a:cs typeface="Liberation Sans"/>
              </a:defRPr>
            </a:pPr>
            <a:r>
              <a:rPr sz="2025" b="0">
                <a:solidFill>
                  <a:srgbClr val="142E3A"/>
                </a:solidFill>
                <a:latin typeface="Liberation Sans"/>
                <a:ea typeface="Liberation Sans"/>
                <a:cs typeface="Liberation Sans"/>
              </a:rPr>
              <a:t>Our calculation: gene-wise age and OSK contrasts.</a:t>
            </a:r>
          </a:p>
          <a:p xmlns:a="http://schemas.openxmlformats.org/drawingml/2006/main">
            <a:r>
              <a:t/>
            </a:r>
          </a:p>
          <a:p xmlns:a="http://schemas.openxmlformats.org/drawingml/2006/main">
            <a:pPr>
              <a:defRPr sz="2025" b="0">
                <a:solidFill>
                  <a:srgbClr val="142E3A"/>
                </a:solidFill>
                <a:latin typeface="Liberation Sans"/>
                <a:ea typeface="Liberation Sans"/>
                <a:cs typeface="Liberation Sans"/>
              </a:defRPr>
            </a:pPr>
            <a:r>
              <a:rPr sz="2025" b="0">
                <a:solidFill>
                  <a:srgbClr val="142E3A"/>
                </a:solidFill>
                <a:latin typeface="Liberation Sans"/>
                <a:ea typeface="Liberation Sans"/>
                <a:cs typeface="Liberation Sans"/>
              </a:rPr>
              <a:t>Source study: a fitted transcriptomic clock with specific preprocessing.</a:t>
            </a:r>
          </a:p>
          <a:p xmlns:a="http://schemas.openxmlformats.org/drawingml/2006/main">
            <a:r>
              <a:t/>
            </a:r>
          </a:p>
          <a:p xmlns:a="http://schemas.openxmlformats.org/drawingml/2006/main">
            <a:pPr>
              <a:defRPr sz="2025" b="0">
                <a:solidFill>
                  <a:srgbClr val="142E3A"/>
                </a:solidFill>
                <a:latin typeface="Liberation Sans"/>
                <a:ea typeface="Liberation Sans"/>
                <a:cs typeface="Liberation Sans"/>
              </a:defRPr>
            </a:pPr>
            <a:r>
              <a:rPr sz="2025" b="0">
                <a:solidFill>
                  <a:srgbClr val="142E3A"/>
                </a:solidFill>
                <a:latin typeface="Liberation Sans"/>
                <a:ea typeface="Liberation Sans"/>
                <a:cs typeface="Liberation Sans"/>
              </a:rPr>
              <a:t>Exact clock, imputation references and animal/cohort mapping remain prerequisites.</a:t>
            </a:r>
          </a:p>
        </p:txBody>
      </p:sp>
    </p:spTree>
    <p:extLst>
      <p:ext uri="{BB962C8B-B14F-4D97-AF65-F5344CB8AC3E}">
        <p14:creationId xmlns:p14="http://schemas.microsoft.com/office/powerpoint/2010/main" val="9786752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EFD4D6-446E-49C0-A19E-6F7CA84D8853}"/>
              </a:ext>
            </a:extLst>
          </p:cNvPr>
          <p:cNvSpPr>
            <a:spLocks xmlns:a="http://schemas.openxmlformats.org/drawingml/2006/main" noGrp="1"/>
          </p:cNvSpPr>
          <p:nvPr/>
        </p:nvSpPr>
        <p:spPr>
          <a:xfrm xmlns:a="http://schemas.openxmlformats.org/drawingml/2006/main">
            <a:off x="609600" y="2952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3"/>
                </a:solidFill>
                <a:latin typeface="Liberation Sans"/>
                <a:ea typeface="Liberation Sans"/>
                <a:cs typeface="Liberation Sans"/>
              </a:defRPr>
            </a:pPr>
            <a:r>
              <a:rPr sz="1200" b="1">
                <a:solidFill>
                  <a:srgbClr val="087F83"/>
                </a:solidFill>
                <a:latin typeface="Liberation Sans"/>
                <a:ea typeface="Liberation Sans"/>
                <a:cs typeface="Liberation Sans"/>
              </a:rPr>
              <a:t>PUBLIC DATA · OCTOBER 2026</a:t>
            </a:r>
          </a:p>
        </p:txBody>
      </p:sp>
      <p:sp>
        <p:nvSpPr>
          <p:cNvPr id="2" name="">
            <a:extLst xmlns:a="http://schemas.openxmlformats.org/drawingml/2006/main">
              <a:ext uri="{FF2B5EF4-FFF2-40B4-BE49-F238E27FC236}">
                <a16:creationId xmlns:a16="http://schemas.microsoft.com/office/drawing/2014/main" id="{21A5138C-0556-4A3D-80CC-84638CF36DFC}"/>
              </a:ext>
            </a:extLst>
          </p:cNvPr>
          <p:cNvSpPr>
            <a:spLocks xmlns:a="http://schemas.openxmlformats.org/drawingml/2006/main" noGrp="1"/>
          </p:cNvSpPr>
          <p:nvPr/>
        </p:nvSpPr>
        <p:spPr>
          <a:xfrm xmlns:a="http://schemas.openxmlformats.org/drawingml/2006/main">
            <a:off x="609600" y="781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A model recognizes treatment in held-out donors</a:t>
            </a:r>
          </a:p>
        </p:txBody>
      </p:sp>
      <p:sp>
        <p:nvSpPr>
          <p:cNvPr id="3" name="">
            <a:extLst xmlns:a="http://schemas.openxmlformats.org/drawingml/2006/main">
              <a:ext uri="{FF2B5EF4-FFF2-40B4-BE49-F238E27FC236}">
                <a16:creationId xmlns:a16="http://schemas.microsoft.com/office/drawing/2014/main" id="{8755E42F-A452-4638-8766-CAA0ED0B8DE4}"/>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3DCB45-6AB8-4630-97BD-5CECCFC473AE}"/>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671"/>
                </a:solidFill>
                <a:latin typeface="Liberation Sans"/>
                <a:ea typeface="Liberation Sans"/>
                <a:cs typeface="Liberation Sans"/>
              </a:defRPr>
            </a:pPr>
            <a:r>
              <a:rPr sz="1050" b="0">
                <a:solidFill>
                  <a:srgbClr val="536671"/>
                </a:solidFill>
                <a:latin typeface="Liberation Sans"/>
                <a:ea typeface="Liberation Sans"/>
                <a:cs typeface="Liberation Sans"/>
              </a:rPr>
              <a:t>FRG / SproutSeeds  ·  Computational findings; biological claims remain Heuristic</a:t>
            </a:r>
          </a:p>
        </p:txBody>
      </p:sp>
      <p:sp>
        <p:nvSpPr>
          <p:cNvPr id="5" name="">
            <a:extLst xmlns:a="http://schemas.openxmlformats.org/drawingml/2006/main">
              <a:ext uri="{FF2B5EF4-FFF2-40B4-BE49-F238E27FC236}">
                <a16:creationId xmlns:a16="http://schemas.microsoft.com/office/drawing/2014/main" id="{D1C23E67-A027-4247-8B38-E7A69C01A65F}"/>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06</a:t>
            </a:r>
          </a:p>
        </p:txBody>
      </p:sp>
      <p:graphicFrame>
        <p:nvGraphicFramePr>
          <p:cNvPr id="16" name="Chart"/>
          <p:cNvGraphicFramePr/>
          <p:nvPr/>
        </p:nvGraphicFramePr>
        <p:xfrm>
          <a:off xmlns:a="http://schemas.openxmlformats.org/drawingml/2006/main" x="609600" y="1952625"/>
          <a:ext xmlns:a="http://schemas.openxmlformats.org/drawingml/2006/main" cx="6858000" cy="3619500"/>
        </p:xfrm>
        <a:graphic xmlns:a="http://schemas.openxmlformats.org/drawingml/2006/main">
          <a:graphicData uri="http://schemas.openxmlformats.org/drawingml/2006/chart">
            <c:chart xmlns:r="http://schemas.openxmlformats.org/officeDocument/2006/relationships" xmlns:c="http://schemas.openxmlformats.org/drawingml/2006/chart" r:id="Rfec67638d88e4daa"/>
          </a:graphicData>
        </a:graphic>
      </p:graphicFrame>
      <p:sp>
        <p:nvSpPr>
          <p:cNvPr id="7" name="">
            <a:extLst xmlns:a="http://schemas.openxmlformats.org/drawingml/2006/main">
              <a:ext uri="{FF2B5EF4-FFF2-40B4-BE49-F238E27FC236}">
                <a16:creationId xmlns:a16="http://schemas.microsoft.com/office/drawing/2014/main" id="{33981336-D7F2-402E-993A-30D8768C9617}"/>
              </a:ext>
            </a:extLst>
          </p:cNvPr>
          <p:cNvSpPr>
            <a:spLocks xmlns:a="http://schemas.openxmlformats.org/drawingml/2006/main" noGrp="1"/>
          </p:cNvSpPr>
          <p:nvPr/>
        </p:nvSpPr>
        <p:spPr>
          <a:xfrm xmlns:a="http://schemas.openxmlformats.org/drawingml/2006/main">
            <a:off x="8096250" y="2066925"/>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087F83"/>
                </a:solidFill>
                <a:latin typeface="Liberation Sans"/>
                <a:ea typeface="Liberation Sans"/>
                <a:cs typeface="Liberation Sans"/>
              </a:defRPr>
            </a:pPr>
            <a:r>
              <a:rPr sz="3675" b="1">
                <a:solidFill>
                  <a:srgbClr val="087F83"/>
                </a:solidFill>
                <a:latin typeface="Liberation Sans"/>
                <a:ea typeface="Liberation Sans"/>
                <a:cs typeface="Liberation Sans"/>
              </a:rPr>
              <a:t>3 donors</a:t>
            </a:r>
          </a:p>
        </p:txBody>
      </p:sp>
      <p:sp>
        <p:nvSpPr>
          <p:cNvPr id="8" name="">
            <a:extLst xmlns:a="http://schemas.openxmlformats.org/drawingml/2006/main">
              <a:ext uri="{FF2B5EF4-FFF2-40B4-BE49-F238E27FC236}">
                <a16:creationId xmlns:a16="http://schemas.microsoft.com/office/drawing/2014/main" id="{00DA1BBD-96D5-4AFC-B64F-0976EEB61B2E}"/>
              </a:ext>
            </a:extLst>
          </p:cNvPr>
          <p:cNvSpPr>
            <a:spLocks xmlns:a="http://schemas.openxmlformats.org/drawingml/2006/main" noGrp="1"/>
          </p:cNvSpPr>
          <p:nvPr/>
        </p:nvSpPr>
        <p:spPr>
          <a:xfrm xmlns:a="http://schemas.openxmlformats.org/drawingml/2006/main">
            <a:off x="8096250" y="2952750"/>
            <a:ext cx="3381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A"/>
                </a:solidFill>
                <a:latin typeface="Liberation Sans"/>
                <a:ea typeface="Liberation Sans"/>
                <a:cs typeface="Liberation Sans"/>
              </a:defRPr>
            </a:pPr>
            <a:r>
              <a:rPr sz="2025" b="0">
                <a:solidFill>
                  <a:srgbClr val="142E3A"/>
                </a:solidFill>
                <a:latin typeface="Liberation Sans"/>
                <a:ea typeface="Liberation Sans"/>
                <a:cs typeface="Liberation Sans"/>
              </a:rPr>
              <a:t>12 repeated libraries</a:t>
            </a:r>
          </a:p>
          <a:p xmlns:a="http://schemas.openxmlformats.org/drawingml/2006/main">
            <a:pPr>
              <a:defRPr sz="2025" b="0">
                <a:solidFill>
                  <a:srgbClr val="142E3A"/>
                </a:solidFill>
                <a:latin typeface="Liberation Sans"/>
                <a:ea typeface="Liberation Sans"/>
                <a:cs typeface="Liberation Sans"/>
              </a:defRPr>
            </a:pPr>
            <a:r>
              <a:rPr sz="2025" b="0">
                <a:solidFill>
                  <a:srgbClr val="142E3A"/>
                </a:solidFill>
                <a:latin typeface="Liberation Sans"/>
                <a:ea typeface="Liberation Sans"/>
                <a:cs typeface="Liberation Sans"/>
              </a:rPr>
              <a:t>Two donors train; one tests.</a:t>
            </a:r>
          </a:p>
        </p:txBody>
      </p:sp>
      <p:sp>
        <p:nvSpPr>
          <p:cNvPr id="9" name="">
            <a:extLst xmlns:a="http://schemas.openxmlformats.org/drawingml/2006/main">
              <a:ext uri="{FF2B5EF4-FFF2-40B4-BE49-F238E27FC236}">
                <a16:creationId xmlns:a16="http://schemas.microsoft.com/office/drawing/2014/main" id="{60636F79-E115-46AA-B1FF-E9D0F1FA449C}"/>
              </a:ext>
            </a:extLst>
          </p:cNvPr>
          <p:cNvSpPr>
            <a:spLocks xmlns:a="http://schemas.openxmlformats.org/drawingml/2006/main" noGrp="1"/>
          </p:cNvSpPr>
          <p:nvPr/>
        </p:nvSpPr>
        <p:spPr>
          <a:xfrm xmlns:a="http://schemas.openxmlformats.org/drawingml/2006/main">
            <a:off x="8096250" y="4143375"/>
            <a:ext cx="3381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Treatment recognition</a:t>
            </a:r>
          </a:p>
          <a:p xmlns:a="http://schemas.openxmlformats.org/drawingml/2006/main">
            <a:r>
              <a:t/>
            </a:r>
          </a:p>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Experimental batch is missing.</a:t>
            </a:r>
          </a:p>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No independent study test.</a:t>
            </a:r>
          </a:p>
        </p:txBody>
      </p:sp>
      <p:sp>
        <p:nvSpPr>
          <p:cNvPr id="10" name="">
            <a:extLst xmlns:a="http://schemas.openxmlformats.org/drawingml/2006/main">
              <a:ext uri="{FF2B5EF4-FFF2-40B4-BE49-F238E27FC236}">
                <a16:creationId xmlns:a16="http://schemas.microsoft.com/office/drawing/2014/main" id="{C3CA7D32-E028-4480-9BBF-CBF2D09A73B0}"/>
              </a:ext>
            </a:extLst>
          </p:cNvPr>
          <p:cNvSpPr>
            <a:spLocks xmlns:a="http://schemas.openxmlformats.org/drawingml/2006/main" noGrp="1"/>
          </p:cNvSpPr>
          <p:nvPr/>
        </p:nvSpPr>
        <p:spPr>
          <a:xfrm xmlns:a="http://schemas.openxmlformats.org/drawingml/2006/main">
            <a:off x="609600" y="57150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671"/>
                </a:solidFill>
                <a:latin typeface="Liberation Sans"/>
                <a:ea typeface="Liberation Sans"/>
                <a:cs typeface="Liberation Sans"/>
              </a:defRPr>
            </a:pPr>
            <a:r>
              <a:rPr sz="1500" b="0">
                <a:solidFill>
                  <a:srgbClr val="536671"/>
                </a:solidFill>
                <a:latin typeface="Liberation Sans"/>
                <a:ea typeface="Liberation Sans"/>
                <a:cs typeface="Liberation Sans"/>
              </a:rPr>
              <a:t>Mean held-donor AUROC. Balanced label controls average 0.50. Benefit and safety remain unmeasured.</a:t>
            </a:r>
          </a:p>
        </p:txBody>
      </p:sp>
    </p:spTree>
    <p:extLst>
      <p:ext uri="{BB962C8B-B14F-4D97-AF65-F5344CB8AC3E}">
        <p14:creationId xmlns:p14="http://schemas.microsoft.com/office/powerpoint/2010/main" val="8123445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DF603E-6040-4392-91BD-FF54D5EAEC92}"/>
              </a:ext>
            </a:extLst>
          </p:cNvPr>
          <p:cNvSpPr>
            <a:spLocks xmlns:a="http://schemas.openxmlformats.org/drawingml/2006/main" noGrp="1"/>
          </p:cNvSpPr>
          <p:nvPr/>
        </p:nvSpPr>
        <p:spPr>
          <a:xfrm xmlns:a="http://schemas.openxmlformats.org/drawingml/2006/main">
            <a:off x="609600" y="2952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3"/>
                </a:solidFill>
                <a:latin typeface="Liberation Sans"/>
                <a:ea typeface="Liberation Sans"/>
                <a:cs typeface="Liberation Sans"/>
              </a:defRPr>
            </a:pPr>
            <a:r>
              <a:rPr sz="1200" b="1">
                <a:solidFill>
                  <a:srgbClr val="087F83"/>
                </a:solidFill>
                <a:latin typeface="Liberation Sans"/>
                <a:ea typeface="Liberation Sans"/>
                <a:cs typeface="Liberation Sans"/>
              </a:rPr>
              <a:t>PUBLIC DATA · OCTOBER 2026</a:t>
            </a:r>
          </a:p>
        </p:txBody>
      </p:sp>
      <p:sp>
        <p:nvSpPr>
          <p:cNvPr id="2" name="">
            <a:extLst xmlns:a="http://schemas.openxmlformats.org/drawingml/2006/main">
              <a:ext uri="{FF2B5EF4-FFF2-40B4-BE49-F238E27FC236}">
                <a16:creationId xmlns:a16="http://schemas.microsoft.com/office/drawing/2014/main" id="{393207E6-B320-4E2E-AA1E-4795B7C26F26}"/>
              </a:ext>
            </a:extLst>
          </p:cNvPr>
          <p:cNvSpPr>
            <a:spLocks xmlns:a="http://schemas.openxmlformats.org/drawingml/2006/main" noGrp="1"/>
          </p:cNvSpPr>
          <p:nvPr/>
        </p:nvSpPr>
        <p:spPr>
          <a:xfrm xmlns:a="http://schemas.openxmlformats.org/drawingml/2006/main">
            <a:off x="609600" y="781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More donors change rare-state detection</a:t>
            </a:r>
          </a:p>
        </p:txBody>
      </p:sp>
      <p:sp>
        <p:nvSpPr>
          <p:cNvPr id="3" name="">
            <a:extLst xmlns:a="http://schemas.openxmlformats.org/drawingml/2006/main">
              <a:ext uri="{FF2B5EF4-FFF2-40B4-BE49-F238E27FC236}">
                <a16:creationId xmlns:a16="http://schemas.microsoft.com/office/drawing/2014/main" id="{7E3911AE-6F2C-44F1-B276-22C0AF7973B7}"/>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B9A9FD-DD58-4380-A2C1-38612FEFF08B}"/>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671"/>
                </a:solidFill>
                <a:latin typeface="Liberation Sans"/>
                <a:ea typeface="Liberation Sans"/>
                <a:cs typeface="Liberation Sans"/>
              </a:defRPr>
            </a:pPr>
            <a:r>
              <a:rPr sz="1050" b="0">
                <a:solidFill>
                  <a:srgbClr val="536671"/>
                </a:solidFill>
                <a:latin typeface="Liberation Sans"/>
                <a:ea typeface="Liberation Sans"/>
                <a:cs typeface="Liberation Sans"/>
              </a:rPr>
              <a:t>FRG / SproutSeeds  ·  Computational findings; biological claims remain Heuristic</a:t>
            </a:r>
          </a:p>
        </p:txBody>
      </p:sp>
      <p:sp>
        <p:nvSpPr>
          <p:cNvPr id="5" name="">
            <a:extLst xmlns:a="http://schemas.openxmlformats.org/drawingml/2006/main">
              <a:ext uri="{FF2B5EF4-FFF2-40B4-BE49-F238E27FC236}">
                <a16:creationId xmlns:a16="http://schemas.microsoft.com/office/drawing/2014/main" id="{1B99110D-E3BD-419F-8341-D1439E8FD0E2}"/>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07</a:t>
            </a:r>
          </a:p>
        </p:txBody>
      </p:sp>
      <p:graphicFrame>
        <p:nvGraphicFramePr>
          <p:cNvPr id="16" name="Chart"/>
          <p:cNvGraphicFramePr/>
          <p:nvPr/>
        </p:nvGraphicFramePr>
        <p:xfrm>
          <a:off xmlns:a="http://schemas.openxmlformats.org/drawingml/2006/main" x="609600" y="1952625"/>
          <a:ext xmlns:a="http://schemas.openxmlformats.org/drawingml/2006/main" cx="6858000" cy="3619500"/>
        </p:xfrm>
        <a:graphic xmlns:a="http://schemas.openxmlformats.org/drawingml/2006/main">
          <a:graphicData uri="http://schemas.openxmlformats.org/drawingml/2006/chart">
            <c:chart xmlns:r="http://schemas.openxmlformats.org/officeDocument/2006/relationships" xmlns:c="http://schemas.openxmlformats.org/drawingml/2006/chart" r:id="Re74e8888f8d74272"/>
          </a:graphicData>
        </a:graphic>
      </p:graphicFrame>
      <p:sp>
        <p:nvSpPr>
          <p:cNvPr id="7" name="">
            <a:extLst xmlns:a="http://schemas.openxmlformats.org/drawingml/2006/main">
              <a:ext uri="{FF2B5EF4-FFF2-40B4-BE49-F238E27FC236}">
                <a16:creationId xmlns:a16="http://schemas.microsoft.com/office/drawing/2014/main" id="{4E167BE0-3F2C-47AD-AF01-F3C3A36D7EFD}"/>
              </a:ext>
            </a:extLst>
          </p:cNvPr>
          <p:cNvSpPr>
            <a:spLocks xmlns:a="http://schemas.openxmlformats.org/drawingml/2006/main" noGrp="1"/>
          </p:cNvSpPr>
          <p:nvPr/>
        </p:nvSpPr>
        <p:spPr>
          <a:xfrm xmlns:a="http://schemas.openxmlformats.org/drawingml/2006/main">
            <a:off x="8096250" y="2009775"/>
            <a:ext cx="338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7F83"/>
                </a:solidFill>
                <a:latin typeface="Liberation Sans"/>
                <a:ea typeface="Liberation Sans"/>
                <a:cs typeface="Liberation Sans"/>
              </a:defRPr>
            </a:pPr>
            <a:r>
              <a:rPr sz="3300" b="1">
                <a:solidFill>
                  <a:srgbClr val="087F83"/>
                </a:solidFill>
                <a:latin typeface="Liberation Sans"/>
                <a:ea typeface="Liberation Sans"/>
                <a:cs typeface="Liberation Sans"/>
              </a:rPr>
              <a:t>1,200 cells</a:t>
            </a:r>
          </a:p>
        </p:txBody>
      </p:sp>
      <p:sp>
        <p:nvSpPr>
          <p:cNvPr id="8" name="">
            <a:extLst xmlns:a="http://schemas.openxmlformats.org/drawingml/2006/main">
              <a:ext uri="{FF2B5EF4-FFF2-40B4-BE49-F238E27FC236}">
                <a16:creationId xmlns:a16="http://schemas.microsoft.com/office/drawing/2014/main" id="{3197A936-092F-418D-8C16-5577858E1AA7}"/>
              </a:ext>
            </a:extLst>
          </p:cNvPr>
          <p:cNvSpPr>
            <a:spLocks xmlns:a="http://schemas.openxmlformats.org/drawingml/2006/main" noGrp="1"/>
          </p:cNvSpPr>
          <p:nvPr/>
        </p:nvSpPr>
        <p:spPr>
          <a:xfrm xmlns:a="http://schemas.openxmlformats.org/drawingml/2006/main">
            <a:off x="8096250" y="2867025"/>
            <a:ext cx="3381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Same total in each scenario</a:t>
            </a:r>
          </a:p>
          <a:p xmlns:a="http://schemas.openxmlformats.org/drawingml/2006/main">
            <a:r>
              <a:t/>
            </a:r>
          </a:p>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Assumed prevalence: 1%</a:t>
            </a:r>
          </a:p>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Sensitivity: 80%</a:t>
            </a:r>
          </a:p>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Latent donor correlation: 0.05</a:t>
            </a:r>
          </a:p>
        </p:txBody>
      </p:sp>
      <p:sp>
        <p:nvSpPr>
          <p:cNvPr id="9" name="">
            <a:extLst xmlns:a="http://schemas.openxmlformats.org/drawingml/2006/main">
              <a:ext uri="{FF2B5EF4-FFF2-40B4-BE49-F238E27FC236}">
                <a16:creationId xmlns:a16="http://schemas.microsoft.com/office/drawing/2014/main" id="{2ED1114E-2862-48AE-9810-9FC8F3D6B04B}"/>
              </a:ext>
            </a:extLst>
          </p:cNvPr>
          <p:cNvSpPr>
            <a:spLocks xmlns:a="http://schemas.openxmlformats.org/drawingml/2006/main" noGrp="1"/>
          </p:cNvSpPr>
          <p:nvPr/>
        </p:nvSpPr>
        <p:spPr>
          <a:xfrm xmlns:a="http://schemas.openxmlformats.org/drawingml/2006/main">
            <a:off x="8096250" y="52673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9B5D22"/>
                </a:solidFill>
                <a:latin typeface="Liberation Sans"/>
                <a:ea typeface="Liberation Sans"/>
                <a:cs typeface="Liberation Sans"/>
              </a:defRPr>
            </a:pPr>
            <a:r>
              <a:rPr sz="2025" b="1">
                <a:solidFill>
                  <a:srgbClr val="9B5D22"/>
                </a:solidFill>
                <a:latin typeface="Liberation Sans"/>
                <a:ea typeface="Liberation Sans"/>
                <a:cs typeface="Liberation Sans"/>
              </a:rPr>
              <a:t>Synthetic only</a:t>
            </a:r>
          </a:p>
        </p:txBody>
      </p:sp>
      <p:sp>
        <p:nvSpPr>
          <p:cNvPr id="10" name="">
            <a:extLst xmlns:a="http://schemas.openxmlformats.org/drawingml/2006/main">
              <a:ext uri="{FF2B5EF4-FFF2-40B4-BE49-F238E27FC236}">
                <a16:creationId xmlns:a16="http://schemas.microsoft.com/office/drawing/2014/main" id="{FA12714A-CEB9-45AD-939E-603091FC7CF9}"/>
              </a:ext>
            </a:extLst>
          </p:cNvPr>
          <p:cNvSpPr>
            <a:spLocks xmlns:a="http://schemas.openxmlformats.org/drawingml/2006/main" noGrp="1"/>
          </p:cNvSpPr>
          <p:nvPr/>
        </p:nvSpPr>
        <p:spPr>
          <a:xfrm xmlns:a="http://schemas.openxmlformats.org/drawingml/2006/main">
            <a:off x="609600" y="57150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671"/>
                </a:solidFill>
                <a:latin typeface="Liberation Sans"/>
                <a:ea typeface="Liberation Sans"/>
                <a:cs typeface="Liberation Sans"/>
              </a:defRPr>
            </a:pPr>
            <a:r>
              <a:rPr sz="1500" b="0">
                <a:solidFill>
                  <a:srgbClr val="536671"/>
                </a:solidFill>
                <a:latin typeface="Liberation Sans"/>
                <a:ea typeface="Liberation Sans"/>
                <a:cs typeface="Liberation Sans"/>
              </a:rPr>
              <a:t>Chance of ≥1 true detection (%). Hypothetical assumptions; detector false positives also need calibration.</a:t>
            </a:r>
          </a:p>
        </p:txBody>
      </p:sp>
    </p:spTree>
    <p:extLst>
      <p:ext uri="{BB962C8B-B14F-4D97-AF65-F5344CB8AC3E}">
        <p14:creationId xmlns:p14="http://schemas.microsoft.com/office/powerpoint/2010/main" val="18197595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DCB3468-41CF-4539-9D06-C069DB0ED7AC}"/>
              </a:ext>
            </a:extLst>
          </p:cNvPr>
          <p:cNvSpPr>
            <a:spLocks xmlns:a="http://schemas.openxmlformats.org/drawingml/2006/main" noGrp="1"/>
          </p:cNvSpPr>
          <p:nvPr/>
        </p:nvSpPr>
        <p:spPr>
          <a:xfrm xmlns:a="http://schemas.openxmlformats.org/drawingml/2006/main">
            <a:off x="609600" y="2952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3"/>
                </a:solidFill>
                <a:latin typeface="Liberation Sans"/>
                <a:ea typeface="Liberation Sans"/>
                <a:cs typeface="Liberation Sans"/>
              </a:defRPr>
            </a:pPr>
            <a:r>
              <a:rPr sz="1200" b="1">
                <a:solidFill>
                  <a:srgbClr val="087F83"/>
                </a:solidFill>
                <a:latin typeface="Liberation Sans"/>
                <a:ea typeface="Liberation Sans"/>
                <a:cs typeface="Liberation Sans"/>
              </a:rPr>
              <a:t>PUBLIC DATA · OCTOBER 2026</a:t>
            </a:r>
          </a:p>
        </p:txBody>
      </p:sp>
      <p:sp>
        <p:nvSpPr>
          <p:cNvPr id="2" name="">
            <a:extLst xmlns:a="http://schemas.openxmlformats.org/drawingml/2006/main">
              <a:ext uri="{FF2B5EF4-FFF2-40B4-BE49-F238E27FC236}">
                <a16:creationId xmlns:a16="http://schemas.microsoft.com/office/drawing/2014/main" id="{4687ECC2-9A3E-491A-9982-DFE67ABCB00F}"/>
              </a:ext>
            </a:extLst>
          </p:cNvPr>
          <p:cNvSpPr>
            <a:spLocks xmlns:a="http://schemas.openxmlformats.org/drawingml/2006/main" noGrp="1"/>
          </p:cNvSpPr>
          <p:nvPr/>
        </p:nvSpPr>
        <p:spPr>
          <a:xfrm xmlns:a="http://schemas.openxmlformats.org/drawingml/2006/main">
            <a:off x="609600" y="781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Public withdrawal data exist — in another system</a:t>
            </a:r>
          </a:p>
        </p:txBody>
      </p:sp>
      <p:sp>
        <p:nvSpPr>
          <p:cNvPr id="3" name="">
            <a:extLst xmlns:a="http://schemas.openxmlformats.org/drawingml/2006/main">
              <a:ext uri="{FF2B5EF4-FFF2-40B4-BE49-F238E27FC236}">
                <a16:creationId xmlns:a16="http://schemas.microsoft.com/office/drawing/2014/main" id="{A37007F8-DA55-4061-B0DC-FC0BBE9E9324}"/>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ABADAD-CB90-4744-A602-C84CBB0F9A50}"/>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671"/>
                </a:solidFill>
                <a:latin typeface="Liberation Sans"/>
                <a:ea typeface="Liberation Sans"/>
                <a:cs typeface="Liberation Sans"/>
              </a:defRPr>
            </a:pPr>
            <a:r>
              <a:rPr sz="1050" b="0">
                <a:solidFill>
                  <a:srgbClr val="536671"/>
                </a:solidFill>
                <a:latin typeface="Liberation Sans"/>
                <a:ea typeface="Liberation Sans"/>
                <a:cs typeface="Liberation Sans"/>
              </a:rPr>
              <a:t>FRG / SproutSeeds  ·  Computational findings; biological claims remain Heuristic</a:t>
            </a:r>
          </a:p>
        </p:txBody>
      </p:sp>
      <p:sp>
        <p:nvSpPr>
          <p:cNvPr id="5" name="">
            <a:extLst xmlns:a="http://schemas.openxmlformats.org/drawingml/2006/main">
              <a:ext uri="{FF2B5EF4-FFF2-40B4-BE49-F238E27FC236}">
                <a16:creationId xmlns:a16="http://schemas.microsoft.com/office/drawing/2014/main" id="{5F409E14-DD8D-46D5-9057-357671E56035}"/>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08</a:t>
            </a:r>
          </a:p>
        </p:txBody>
      </p:sp>
      <p:sp>
        <p:nvSpPr>
          <p:cNvPr id="6" name="">
            <a:extLst xmlns:a="http://schemas.openxmlformats.org/drawingml/2006/main">
              <a:ext uri="{FF2B5EF4-FFF2-40B4-BE49-F238E27FC236}">
                <a16:creationId xmlns:a16="http://schemas.microsoft.com/office/drawing/2014/main" id="{4D8E6A24-809B-463B-AD0C-65A65C1DE2A3}"/>
              </a:ext>
            </a:extLst>
          </p:cNvPr>
          <p:cNvSpPr>
            <a:spLocks xmlns:a="http://schemas.openxmlformats.org/drawingml/2006/main" noGrp="1"/>
          </p:cNvSpPr>
          <p:nvPr/>
        </p:nvSpPr>
        <p:spPr>
          <a:xfrm xmlns:a="http://schemas.openxmlformats.org/drawingml/2006/main">
            <a:off x="609600" y="1952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F83"/>
                </a:solidFill>
                <a:latin typeface="Liberation Sans"/>
                <a:ea typeface="Liberation Sans"/>
                <a:cs typeface="Liberation Sans"/>
              </a:defRPr>
            </a:pPr>
            <a:r>
              <a:rPr sz="2700" b="1">
                <a:solidFill>
                  <a:srgbClr val="087F83"/>
                </a:solidFill>
                <a:latin typeface="Liberation Sans"/>
                <a:ea typeface="Liberation Sans"/>
                <a:cs typeface="Liberation Sans"/>
              </a:rPr>
              <a:t>Mouse liver: one day on, one day off</a:t>
            </a:r>
          </a:p>
        </p:txBody>
      </p:sp>
      <p:sp>
        <p:nvSpPr>
          <p:cNvPr id="7" name="">
            <a:extLst xmlns:a="http://schemas.openxmlformats.org/drawingml/2006/main">
              <a:ext uri="{FF2B5EF4-FFF2-40B4-BE49-F238E27FC236}">
                <a16:creationId xmlns:a16="http://schemas.microsoft.com/office/drawing/2014/main" id="{8B88D556-B8C4-41E0-B3F7-D698919EA342}"/>
              </a:ext>
            </a:extLst>
          </p:cNvPr>
          <p:cNvSpPr>
            <a:spLocks xmlns:a="http://schemas.openxmlformats.org/drawingml/2006/main" noGrp="1"/>
          </p:cNvSpPr>
          <p:nvPr/>
        </p:nvSpPr>
        <p:spPr>
          <a:xfrm xmlns:a="http://schemas.openxmlformats.org/drawingml/2006/main">
            <a:off x="609600" y="30480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142E3A"/>
                </a:solidFill>
                <a:latin typeface="Liberation Sans"/>
                <a:ea typeface="Liberation Sans"/>
                <a:cs typeface="Liberation Sans"/>
              </a:defRPr>
            </a:pPr>
            <a:r>
              <a:rPr sz="4950" b="1">
                <a:solidFill>
                  <a:srgbClr val="142E3A"/>
                </a:solidFill>
                <a:latin typeface="Liberation Sans"/>
                <a:ea typeface="Liberation Sans"/>
                <a:cs typeface="Liberation Sans"/>
              </a:rPr>
              <a:t>16,042</a:t>
            </a:r>
          </a:p>
        </p:txBody>
      </p:sp>
      <p:sp>
        <p:nvSpPr>
          <p:cNvPr id="8" name="">
            <a:extLst xmlns:a="http://schemas.openxmlformats.org/drawingml/2006/main">
              <a:ext uri="{FF2B5EF4-FFF2-40B4-BE49-F238E27FC236}">
                <a16:creationId xmlns:a16="http://schemas.microsoft.com/office/drawing/2014/main" id="{004E5E91-016F-4D15-BFD6-D1CBFACCB384}"/>
              </a:ext>
            </a:extLst>
          </p:cNvPr>
          <p:cNvSpPr>
            <a:spLocks xmlns:a="http://schemas.openxmlformats.org/drawingml/2006/main" noGrp="1"/>
          </p:cNvSpPr>
          <p:nvPr/>
        </p:nvSpPr>
        <p:spPr>
          <a:xfrm xmlns:a="http://schemas.openxmlformats.org/drawingml/2006/main">
            <a:off x="609600" y="406717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deposited barcodes</a:t>
            </a:r>
          </a:p>
        </p:txBody>
      </p:sp>
      <p:sp>
        <p:nvSpPr>
          <p:cNvPr id="9" name="">
            <a:extLst xmlns:a="http://schemas.openxmlformats.org/drawingml/2006/main">
              <a:ext uri="{FF2B5EF4-FFF2-40B4-BE49-F238E27FC236}">
                <a16:creationId xmlns:a16="http://schemas.microsoft.com/office/drawing/2014/main" id="{F3F93700-99BE-4ACA-8C3B-24605A625CE7}"/>
              </a:ext>
            </a:extLst>
          </p:cNvPr>
          <p:cNvSpPr>
            <a:spLocks xmlns:a="http://schemas.openxmlformats.org/drawingml/2006/main" noGrp="1"/>
          </p:cNvSpPr>
          <p:nvPr/>
        </p:nvSpPr>
        <p:spPr>
          <a:xfrm xmlns:a="http://schemas.openxmlformats.org/drawingml/2006/main">
            <a:off x="4305300" y="30480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142E3A"/>
                </a:solidFill>
                <a:latin typeface="Liberation Sans"/>
                <a:ea typeface="Liberation Sans"/>
                <a:cs typeface="Liberation Sans"/>
              </a:defRPr>
            </a:pPr>
            <a:r>
              <a:rPr sz="4950" b="1">
                <a:solidFill>
                  <a:srgbClr val="142E3A"/>
                </a:solidFill>
                <a:latin typeface="Liberation Sans"/>
                <a:ea typeface="Liberation Sans"/>
                <a:cs typeface="Liberation Sans"/>
              </a:rPr>
              <a:t>2,288</a:t>
            </a:r>
          </a:p>
        </p:txBody>
      </p:sp>
      <p:sp>
        <p:nvSpPr>
          <p:cNvPr id="10" name="">
            <a:extLst xmlns:a="http://schemas.openxmlformats.org/drawingml/2006/main">
              <a:ext uri="{FF2B5EF4-FFF2-40B4-BE49-F238E27FC236}">
                <a16:creationId xmlns:a16="http://schemas.microsoft.com/office/drawing/2014/main" id="{283E6907-7FF6-4864-BA65-B1DCDDBF0657}"/>
              </a:ext>
            </a:extLst>
          </p:cNvPr>
          <p:cNvSpPr>
            <a:spLocks xmlns:a="http://schemas.openxmlformats.org/drawingml/2006/main" noGrp="1"/>
          </p:cNvSpPr>
          <p:nvPr/>
        </p:nvSpPr>
        <p:spPr>
          <a:xfrm xmlns:a="http://schemas.openxmlformats.org/drawingml/2006/main">
            <a:off x="4305300" y="406717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source-QC sensitivity</a:t>
            </a:r>
          </a:p>
        </p:txBody>
      </p:sp>
      <p:sp>
        <p:nvSpPr>
          <p:cNvPr id="11" name="">
            <a:extLst xmlns:a="http://schemas.openxmlformats.org/drawingml/2006/main">
              <a:ext uri="{FF2B5EF4-FFF2-40B4-BE49-F238E27FC236}">
                <a16:creationId xmlns:a16="http://schemas.microsoft.com/office/drawing/2014/main" id="{81137A34-8794-4AED-AA92-CAB954CC3E43}"/>
              </a:ext>
            </a:extLst>
          </p:cNvPr>
          <p:cNvSpPr>
            <a:spLocks xmlns:a="http://schemas.openxmlformats.org/drawingml/2006/main" noGrp="1"/>
          </p:cNvSpPr>
          <p:nvPr/>
        </p:nvSpPr>
        <p:spPr>
          <a:xfrm xmlns:a="http://schemas.openxmlformats.org/drawingml/2006/main">
            <a:off x="8001000" y="30480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142E3A"/>
                </a:solidFill>
                <a:latin typeface="Liberation Sans"/>
                <a:ea typeface="Liberation Sans"/>
                <a:cs typeface="Liberation Sans"/>
              </a:defRPr>
            </a:pPr>
            <a:r>
              <a:rPr sz="4950" b="1">
                <a:solidFill>
                  <a:srgbClr val="142E3A"/>
                </a:solidFill>
                <a:latin typeface="Liberation Sans"/>
                <a:ea typeface="Liberation Sans"/>
                <a:cs typeface="Liberation Sans"/>
              </a:rPr>
              <a:t>2,284</a:t>
            </a:r>
          </a:p>
        </p:txBody>
      </p:sp>
      <p:sp>
        <p:nvSpPr>
          <p:cNvPr id="12" name="">
            <a:extLst xmlns:a="http://schemas.openxmlformats.org/drawingml/2006/main">
              <a:ext uri="{FF2B5EF4-FFF2-40B4-BE49-F238E27FC236}">
                <a16:creationId xmlns:a16="http://schemas.microsoft.com/office/drawing/2014/main" id="{5BC27850-9858-49D9-991D-3A860D8B4EEA}"/>
              </a:ext>
            </a:extLst>
          </p:cNvPr>
          <p:cNvSpPr>
            <a:spLocks xmlns:a="http://schemas.openxmlformats.org/drawingml/2006/main" noGrp="1"/>
          </p:cNvSpPr>
          <p:nvPr/>
        </p:nvSpPr>
        <p:spPr>
          <a:xfrm xmlns:a="http://schemas.openxmlformats.org/drawingml/2006/main">
            <a:off x="8001000" y="406717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A"/>
                </a:solidFill>
                <a:latin typeface="Liberation Sans"/>
                <a:ea typeface="Liberation Sans"/>
                <a:cs typeface="Liberation Sans"/>
              </a:defRPr>
            </a:pPr>
            <a:r>
              <a:rPr sz="1875" b="0">
                <a:solidFill>
                  <a:srgbClr val="142E3A"/>
                </a:solidFill>
                <a:latin typeface="Liberation Sans"/>
                <a:ea typeface="Liberation Sans"/>
                <a:cs typeface="Liberation Sans"/>
              </a:rPr>
              <a:t>paper-reported cells</a:t>
            </a:r>
          </a:p>
        </p:txBody>
      </p:sp>
      <p:sp>
        <p:nvSpPr>
          <p:cNvPr id="13" name="">
            <a:extLst xmlns:a="http://schemas.openxmlformats.org/drawingml/2006/main">
              <a:ext uri="{FF2B5EF4-FFF2-40B4-BE49-F238E27FC236}">
                <a16:creationId xmlns:a16="http://schemas.microsoft.com/office/drawing/2014/main" id="{CA82C242-2104-4C55-B259-C72100D02EDD}"/>
              </a:ext>
            </a:extLst>
          </p:cNvPr>
          <p:cNvSpPr>
            <a:spLocks xmlns:a="http://schemas.openxmlformats.org/drawingml/2006/main" noGrp="1"/>
          </p:cNvSpPr>
          <p:nvPr/>
        </p:nvSpPr>
        <p:spPr>
          <a:xfrm xmlns:a="http://schemas.openxmlformats.org/drawingml/2006/main">
            <a:off x="609600" y="5238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671"/>
                </a:solidFill>
                <a:latin typeface="Liberation Sans"/>
                <a:ea typeface="Liberation Sans"/>
                <a:cs typeface="Liberation Sans"/>
              </a:defRPr>
            </a:pPr>
            <a:r>
              <a:rPr sz="2025" b="0">
                <a:solidFill>
                  <a:srgbClr val="536671"/>
                </a:solidFill>
                <a:latin typeface="Liberation Sans"/>
                <a:ea typeface="Liberation Sans"/>
                <a:cs typeface="Liberation Sans"/>
              </a:rPr>
              <a:t>Four-cell QC discrepancy remains. Early mouse liver data do not establish late human or retinal recovery.</a:t>
            </a:r>
          </a:p>
        </p:txBody>
      </p:sp>
    </p:spTree>
    <p:extLst>
      <p:ext uri="{BB962C8B-B14F-4D97-AF65-F5344CB8AC3E}">
        <p14:creationId xmlns:p14="http://schemas.microsoft.com/office/powerpoint/2010/main" val="6993753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8C503BA-ADB2-42A1-9933-AFE273F5C8F1}"/>
              </a:ext>
            </a:extLst>
          </p:cNvPr>
          <p:cNvSpPr>
            <a:spLocks xmlns:a="http://schemas.openxmlformats.org/drawingml/2006/main" noGrp="1"/>
          </p:cNvSpPr>
          <p:nvPr/>
        </p:nvSpPr>
        <p:spPr>
          <a:xfrm xmlns:a="http://schemas.openxmlformats.org/drawingml/2006/main">
            <a:off x="609600" y="2952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3"/>
                </a:solidFill>
                <a:latin typeface="Liberation Sans"/>
                <a:ea typeface="Liberation Sans"/>
                <a:cs typeface="Liberation Sans"/>
              </a:defRPr>
            </a:pPr>
            <a:r>
              <a:rPr sz="1200" b="1">
                <a:solidFill>
                  <a:srgbClr val="087F83"/>
                </a:solidFill>
                <a:latin typeface="Liberation Sans"/>
                <a:ea typeface="Liberation Sans"/>
                <a:cs typeface="Liberation Sans"/>
              </a:rPr>
              <a:t>PUBLIC DATA · OCTOBER 2026</a:t>
            </a:r>
          </a:p>
        </p:txBody>
      </p:sp>
      <p:sp>
        <p:nvSpPr>
          <p:cNvPr id="2" name="">
            <a:extLst xmlns:a="http://schemas.openxmlformats.org/drawingml/2006/main">
              <a:ext uri="{FF2B5EF4-FFF2-40B4-BE49-F238E27FC236}">
                <a16:creationId xmlns:a16="http://schemas.microsoft.com/office/drawing/2014/main" id="{C0563B3E-0DA2-42B2-801E-F19A08E4D1C6}"/>
              </a:ext>
            </a:extLst>
          </p:cNvPr>
          <p:cNvSpPr>
            <a:spLocks xmlns:a="http://schemas.openxmlformats.org/drawingml/2006/main" noGrp="1"/>
          </p:cNvSpPr>
          <p:nvPr/>
        </p:nvSpPr>
        <p:spPr>
          <a:xfrm xmlns:a="http://schemas.openxmlformats.org/drawingml/2006/main">
            <a:off x="609600" y="781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A focused pilot keeps the three comparisons</a:t>
            </a:r>
          </a:p>
        </p:txBody>
      </p:sp>
      <p:sp>
        <p:nvSpPr>
          <p:cNvPr id="3" name="">
            <a:extLst xmlns:a="http://schemas.openxmlformats.org/drawingml/2006/main">
              <a:ext uri="{FF2B5EF4-FFF2-40B4-BE49-F238E27FC236}">
                <a16:creationId xmlns:a16="http://schemas.microsoft.com/office/drawing/2014/main" id="{09B1E44B-8208-48A5-B466-4EE9DFFC709F}"/>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1ECD3F-7E16-4844-9A1E-43DF8791BE2D}"/>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671"/>
                </a:solidFill>
                <a:latin typeface="Liberation Sans"/>
                <a:ea typeface="Liberation Sans"/>
                <a:cs typeface="Liberation Sans"/>
              </a:defRPr>
            </a:pPr>
            <a:r>
              <a:rPr sz="1050" b="0">
                <a:solidFill>
                  <a:srgbClr val="536671"/>
                </a:solidFill>
                <a:latin typeface="Liberation Sans"/>
                <a:ea typeface="Liberation Sans"/>
                <a:cs typeface="Liberation Sans"/>
              </a:rPr>
              <a:t>FRG / SproutSeeds  ·  Computational findings; biological claims remain Heuristic</a:t>
            </a:r>
          </a:p>
        </p:txBody>
      </p:sp>
      <p:sp>
        <p:nvSpPr>
          <p:cNvPr id="5" name="">
            <a:extLst xmlns:a="http://schemas.openxmlformats.org/drawingml/2006/main">
              <a:ext uri="{FF2B5EF4-FFF2-40B4-BE49-F238E27FC236}">
                <a16:creationId xmlns:a16="http://schemas.microsoft.com/office/drawing/2014/main" id="{AAF7104A-1E2D-425D-9609-1E28A8D8B46A}"/>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09</a:t>
            </a:r>
          </a:p>
        </p:txBody>
      </p:sp>
      <p:graphicFrame>
        <p:nvGraphicFramePr>
          <p:cNvPr id="14" name=""/>
          <p:cNvGraphicFramePr/>
          <p:nvPr/>
        </p:nvGraphicFramePr>
        <p:xfrm>
          <a:off xmlns:a="http://schemas.openxmlformats.org/drawingml/2006/main" x="609600" y="1905000"/>
          <a:ext xmlns:a="http://schemas.openxmlformats.org/drawingml/2006/main" cx="10953750" cy="2905125"/>
        </p:xfrm>
        <a:graphic xmlns:a="http://schemas.openxmlformats.org/drawingml/2006/main">
          <a:graphicData uri="http://schemas.openxmlformats.org/drawingml/2006/table">
            <a:tbl>
              <a:tblPr/>
              <a:tblGrid>
                <a:gridCol w="1428750"/>
                <a:gridCol w="3143250"/>
                <a:gridCol w="3238500"/>
                <a:gridCol w="3143250"/>
              </a:tblGrid>
              <a:tr h="484188">
                <a:tc>
                  <a:txBody>
                    <a:bodyPr/>
                    <a:lstStyle/>
                    <a:p>
                      <a:r>
                        <a:rPr sz="1725" b="1">
                          <a:solidFill>
                            <a:srgbClr val="FFFFFF"/>
                          </a:solidFill>
                          <a:latin typeface="Liberation Sans"/>
                          <a:ea typeface="Liberation Sans"/>
                          <a:cs typeface="Liberation Sans"/>
                        </a:rPr>
                        <a:t>Day</a:t>
                      </a:r>
                    </a:p>
                  </a:txBody>
                  <a:tcPr marL="91440" marR="91440" marT="45720" marB="45720">
                    <a:solidFill>
                      <a:srgbClr val="087F83"/>
                    </a:solidFill>
                  </a:tcPr>
                </a:tc>
                <a:tc>
                  <a:txBody>
                    <a:bodyPr/>
                    <a:lstStyle/>
                    <a:p>
                      <a:r>
                        <a:rPr sz="1725" b="1">
                          <a:solidFill>
                            <a:srgbClr val="FFFFFF"/>
                          </a:solidFill>
                          <a:latin typeface="Liberation Sans"/>
                          <a:ea typeface="Liberation Sans"/>
                          <a:cs typeface="Liberation Sans"/>
                        </a:rPr>
                        <a:t>Reference</a:t>
                      </a:r>
                    </a:p>
                  </a:txBody>
                  <a:tcPr marL="91440" marR="91440" marT="45720" marB="45720">
                    <a:solidFill>
                      <a:srgbClr val="087F83"/>
                    </a:solidFill>
                  </a:tcPr>
                </a:tc>
                <a:tc>
                  <a:txBody>
                    <a:bodyPr/>
                    <a:lstStyle/>
                    <a:p>
                      <a:r>
                        <a:rPr sz="1725" b="1">
                          <a:solidFill>
                            <a:srgbClr val="FFFFFF"/>
                          </a:solidFill>
                          <a:latin typeface="Liberation Sans"/>
                          <a:ea typeface="Liberation Sans"/>
                          <a:cs typeface="Liberation Sans"/>
                        </a:rPr>
                        <a:t>Induced / continued</a:t>
                      </a:r>
                    </a:p>
                  </a:txBody>
                  <a:tcPr marL="91440" marR="91440" marT="45720" marB="45720">
                    <a:solidFill>
                      <a:srgbClr val="087F83"/>
                    </a:solidFill>
                  </a:tcPr>
                </a:tc>
                <a:tc>
                  <a:txBody>
                    <a:bodyPr/>
                    <a:lstStyle/>
                    <a:p>
                      <a:r>
                        <a:rPr sz="1725" b="1">
                          <a:solidFill>
                            <a:srgbClr val="FFFFFF"/>
                          </a:solidFill>
                          <a:latin typeface="Liberation Sans"/>
                          <a:ea typeface="Liberation Sans"/>
                          <a:cs typeface="Liberation Sans"/>
                        </a:rPr>
                        <a:t>Withdrawal</a:t>
                      </a:r>
                    </a:p>
                  </a:txBody>
                  <a:tcPr marL="91440" marR="91440" marT="45720" marB="45720">
                    <a:solidFill>
                      <a:srgbClr val="087F83"/>
                    </a:solidFill>
                  </a:tcPr>
                </a:tc>
              </a:tr>
              <a:tr h="484188">
                <a:tc>
                  <a:txBody>
                    <a:bodyPr/>
                    <a:lstStyle/>
                    <a:p>
                      <a:r>
                        <a:rPr sz="1725" b="0">
                          <a:solidFill>
                            <a:srgbClr val="142E3A"/>
                          </a:solidFill>
                          <a:latin typeface="Liberation Sans"/>
                          <a:ea typeface="Liberation Sans"/>
                          <a:cs typeface="Liberation Sans"/>
                        </a:rPr>
                        <a:t>0</a:t>
                      </a:r>
                    </a:p>
                  </a:txBody>
                  <a:tcPr marL="91440" marR="91440" marT="45720" marB="45720">
                    <a:solidFill>
                      <a:srgbClr val="FFFFFF"/>
                    </a:solidFill>
                  </a:tcPr>
                </a:tc>
                <a:tc>
                  <a:txBody>
                    <a:bodyPr/>
                    <a:lstStyle/>
                    <a:p>
                      <a:r>
                        <a:rPr sz="1725" b="0">
                          <a:solidFill>
                            <a:srgbClr val="142E3A"/>
                          </a:solidFill>
                          <a:latin typeface="Liberation Sans"/>
                          <a:ea typeface="Liberation Sans"/>
                          <a:cs typeface="Liberation Sans"/>
                        </a:rPr>
                        <a:t>1 shared baseline</a:t>
                      </a:r>
                    </a:p>
                  </a:txBody>
                  <a:tcPr marL="91440" marR="91440" marT="45720" marB="45720">
                    <a:solidFill>
                      <a:srgbClr val="FFFFFF"/>
                    </a:solidFill>
                  </a:tcPr>
                </a:tc>
                <a:tc>
                  <a:txBody>
                    <a:bodyPr/>
                    <a:lstStyle/>
                    <a:p>
                      <a:r>
                        <a:rPr sz="1725" b="0">
                          <a:solidFill>
                            <a:srgbClr val="142E3A"/>
                          </a:solidFill>
                          <a:latin typeface="Liberation Sans"/>
                          <a:ea typeface="Liberation Sans"/>
                          <a:cs typeface="Liberation Sans"/>
                        </a:rPr>
                        <a:t>—</a:t>
                      </a:r>
                    </a:p>
                  </a:txBody>
                  <a:tcPr marL="91440" marR="91440" marT="45720" marB="45720">
                    <a:solidFill>
                      <a:srgbClr val="FFFFFF"/>
                    </a:solidFill>
                  </a:tcPr>
                </a:tc>
                <a:tc>
                  <a:txBody>
                    <a:bodyPr/>
                    <a:lstStyle/>
                    <a:p>
                      <a:r>
                        <a:rPr sz="1725" b="0">
                          <a:solidFill>
                            <a:srgbClr val="142E3A"/>
                          </a:solidFill>
                          <a:latin typeface="Liberation Sans"/>
                          <a:ea typeface="Liberation Sans"/>
                          <a:cs typeface="Liberation Sans"/>
                        </a:rPr>
                        <a:t>—</a:t>
                      </a:r>
                    </a:p>
                  </a:txBody>
                  <a:tcPr marL="91440" marR="91440" marT="45720" marB="45720">
                    <a:solidFill>
                      <a:srgbClr val="FFFFFF"/>
                    </a:solidFill>
                  </a:tcPr>
                </a:tc>
              </a:tr>
              <a:tr h="484188">
                <a:tc>
                  <a:txBody>
                    <a:bodyPr/>
                    <a:lstStyle/>
                    <a:p>
                      <a:r>
                        <a:rPr sz="1725" b="0">
                          <a:solidFill>
                            <a:srgbClr val="142E3A"/>
                          </a:solidFill>
                          <a:latin typeface="Liberation Sans"/>
                          <a:ea typeface="Liberation Sans"/>
                          <a:cs typeface="Liberation Sans"/>
                        </a:rPr>
                        <a:t>17</a:t>
                      </a:r>
                    </a:p>
                  </a:txBody>
                  <a:tcPr marL="91440" marR="91440" marT="45720" marB="45720">
                    <a:solidFill>
                      <a:srgbClr val="EAF3F3"/>
                    </a:solidFill>
                  </a:tcPr>
                </a:tc>
                <a:tc>
                  <a:txBody>
                    <a:bodyPr/>
                    <a:lstStyle/>
                    <a:p>
                      <a:r>
                        <a:rPr sz="1725" b="0">
                          <a:solidFill>
                            <a:srgbClr val="142E3A"/>
                          </a:solidFill>
                          <a:latin typeface="Liberation Sans"/>
                          <a:ea typeface="Liberation Sans"/>
                          <a:cs typeface="Liberation Sans"/>
                        </a:rPr>
                        <a:t>1</a:t>
                      </a:r>
                    </a:p>
                  </a:txBody>
                  <a:tcPr marL="91440" marR="91440" marT="45720" marB="45720">
                    <a:solidFill>
                      <a:srgbClr val="EAF3F3"/>
                    </a:solidFill>
                  </a:tcPr>
                </a:tc>
                <a:tc>
                  <a:txBody>
                    <a:bodyPr/>
                    <a:lstStyle/>
                    <a:p>
                      <a:r>
                        <a:rPr sz="1725" b="0">
                          <a:solidFill>
                            <a:srgbClr val="142E3A"/>
                          </a:solidFill>
                          <a:latin typeface="Liberation Sans"/>
                          <a:ea typeface="Liberation Sans"/>
                          <a:cs typeface="Liberation Sans"/>
                        </a:rPr>
                        <a:t>1 before branching</a:t>
                      </a:r>
                    </a:p>
                  </a:txBody>
                  <a:tcPr marL="91440" marR="91440" marT="45720" marB="45720">
                    <a:solidFill>
                      <a:srgbClr val="EAF3F3"/>
                    </a:solidFill>
                  </a:tcPr>
                </a:tc>
                <a:tc>
                  <a:txBody>
                    <a:bodyPr/>
                    <a:lstStyle/>
                    <a:p>
                      <a:r>
                        <a:rPr sz="1725" b="0">
                          <a:solidFill>
                            <a:srgbClr val="142E3A"/>
                          </a:solidFill>
                          <a:latin typeface="Liberation Sans"/>
                          <a:ea typeface="Liberation Sans"/>
                          <a:cs typeface="Liberation Sans"/>
                        </a:rPr>
                        <a:t>—</a:t>
                      </a:r>
                    </a:p>
                  </a:txBody>
                  <a:tcPr marL="91440" marR="91440" marT="45720" marB="45720">
                    <a:solidFill>
                      <a:srgbClr val="EAF3F3"/>
                    </a:solidFill>
                  </a:tcPr>
                </a:tc>
              </a:tr>
              <a:tr h="484188">
                <a:tc>
                  <a:txBody>
                    <a:bodyPr/>
                    <a:lstStyle/>
                    <a:p>
                      <a:r>
                        <a:rPr sz="1725" b="0">
                          <a:solidFill>
                            <a:srgbClr val="142E3A"/>
                          </a:solidFill>
                          <a:latin typeface="Liberation Sans"/>
                          <a:ea typeface="Liberation Sans"/>
                          <a:cs typeface="Liberation Sans"/>
                        </a:rPr>
                        <a:t>20</a:t>
                      </a:r>
                    </a:p>
                  </a:txBody>
                  <a:tcPr marL="91440" marR="91440" marT="45720" marB="45720">
                    <a:solidFill>
                      <a:srgbClr val="FFFFFF"/>
                    </a:solidFill>
                  </a:tcPr>
                </a:tc>
                <a:tc>
                  <a:txBody>
                    <a:bodyPr/>
                    <a:lstStyle/>
                    <a:p>
                      <a:r>
                        <a:rPr sz="1725" b="0">
                          <a:solidFill>
                            <a:srgbClr val="142E3A"/>
                          </a:solidFill>
                          <a:latin typeface="Liberation Sans"/>
                          <a:ea typeface="Liberation Sans"/>
                          <a:cs typeface="Liberation Sans"/>
                        </a:rPr>
                        <a:t>1</a:t>
                      </a:r>
                    </a:p>
                  </a:txBody>
                  <a:tcPr marL="91440" marR="91440" marT="45720" marB="45720">
                    <a:solidFill>
                      <a:srgbClr val="FFFFFF"/>
                    </a:solidFill>
                  </a:tcPr>
                </a:tc>
                <a:tc>
                  <a:txBody>
                    <a:bodyPr/>
                    <a:lstStyle/>
                    <a:p>
                      <a:r>
                        <a:rPr sz="1725" b="0">
                          <a:solidFill>
                            <a:srgbClr val="142E3A"/>
                          </a:solidFill>
                          <a:latin typeface="Liberation Sans"/>
                          <a:ea typeface="Liberation Sans"/>
                          <a:cs typeface="Liberation Sans"/>
                        </a:rPr>
                        <a:t>1</a:t>
                      </a:r>
                    </a:p>
                  </a:txBody>
                  <a:tcPr marL="91440" marR="91440" marT="45720" marB="45720">
                    <a:solidFill>
                      <a:srgbClr val="FFFFFF"/>
                    </a:solidFill>
                  </a:tcPr>
                </a:tc>
                <a:tc>
                  <a:txBody>
                    <a:bodyPr/>
                    <a:lstStyle/>
                    <a:p>
                      <a:r>
                        <a:rPr sz="1725" b="0">
                          <a:solidFill>
                            <a:srgbClr val="142E3A"/>
                          </a:solidFill>
                          <a:latin typeface="Liberation Sans"/>
                          <a:ea typeface="Liberation Sans"/>
                          <a:cs typeface="Liberation Sans"/>
                        </a:rPr>
                        <a:t>1</a:t>
                      </a:r>
                    </a:p>
                  </a:txBody>
                  <a:tcPr marL="91440" marR="91440" marT="45720" marB="45720">
                    <a:solidFill>
                      <a:srgbClr val="FFFFFF"/>
                    </a:solidFill>
                  </a:tcPr>
                </a:tc>
              </a:tr>
              <a:tr h="484188">
                <a:tc>
                  <a:txBody>
                    <a:bodyPr/>
                    <a:lstStyle/>
                    <a:p>
                      <a:r>
                        <a:rPr sz="1725" b="0">
                          <a:solidFill>
                            <a:srgbClr val="142E3A"/>
                          </a:solidFill>
                          <a:latin typeface="Liberation Sans"/>
                          <a:ea typeface="Liberation Sans"/>
                          <a:cs typeface="Liberation Sans"/>
                        </a:rPr>
                        <a:t>28</a:t>
                      </a:r>
                    </a:p>
                  </a:txBody>
                  <a:tcPr marL="91440" marR="91440" marT="45720" marB="45720">
                    <a:solidFill>
                      <a:srgbClr val="EAF3F3"/>
                    </a:solidFill>
                  </a:tcPr>
                </a:tc>
                <a:tc>
                  <a:txBody>
                    <a:bodyPr/>
                    <a:lstStyle/>
                    <a:p>
                      <a:r>
                        <a:rPr sz="1725" b="0">
                          <a:solidFill>
                            <a:srgbClr val="142E3A"/>
                          </a:solidFill>
                          <a:latin typeface="Liberation Sans"/>
                          <a:ea typeface="Liberation Sans"/>
                          <a:cs typeface="Liberation Sans"/>
                        </a:rPr>
                        <a:t>1</a:t>
                      </a:r>
                    </a:p>
                  </a:txBody>
                  <a:tcPr marL="91440" marR="91440" marT="45720" marB="45720">
                    <a:solidFill>
                      <a:srgbClr val="EAF3F3"/>
                    </a:solidFill>
                  </a:tcPr>
                </a:tc>
                <a:tc>
                  <a:txBody>
                    <a:bodyPr/>
                    <a:lstStyle/>
                    <a:p>
                      <a:r>
                        <a:rPr sz="1725" b="0">
                          <a:solidFill>
                            <a:srgbClr val="142E3A"/>
                          </a:solidFill>
                          <a:latin typeface="Liberation Sans"/>
                          <a:ea typeface="Liberation Sans"/>
                          <a:cs typeface="Liberation Sans"/>
                        </a:rPr>
                        <a:t>1</a:t>
                      </a:r>
                    </a:p>
                  </a:txBody>
                  <a:tcPr marL="91440" marR="91440" marT="45720" marB="45720">
                    <a:solidFill>
                      <a:srgbClr val="EAF3F3"/>
                    </a:solidFill>
                  </a:tcPr>
                </a:tc>
                <a:tc>
                  <a:txBody>
                    <a:bodyPr/>
                    <a:lstStyle/>
                    <a:p>
                      <a:r>
                        <a:rPr sz="1725" b="0">
                          <a:solidFill>
                            <a:srgbClr val="142E3A"/>
                          </a:solidFill>
                          <a:latin typeface="Liberation Sans"/>
                          <a:ea typeface="Liberation Sans"/>
                          <a:cs typeface="Liberation Sans"/>
                        </a:rPr>
                        <a:t>1</a:t>
                      </a:r>
                    </a:p>
                  </a:txBody>
                  <a:tcPr marL="91440" marR="91440" marT="45720" marB="45720">
                    <a:solidFill>
                      <a:srgbClr val="EAF3F3"/>
                    </a:solidFill>
                  </a:tcPr>
                </a:tc>
              </a:tr>
              <a:tr h="484188">
                <a:tc>
                  <a:txBody>
                    <a:bodyPr/>
                    <a:lstStyle/>
                    <a:p>
                      <a:r>
                        <a:rPr sz="1725" b="0">
                          <a:solidFill>
                            <a:srgbClr val="142E3A"/>
                          </a:solidFill>
                          <a:latin typeface="Liberation Sans"/>
                          <a:ea typeface="Liberation Sans"/>
                          <a:cs typeface="Liberation Sans"/>
                        </a:rPr>
                        <a:t>35</a:t>
                      </a:r>
                    </a:p>
                  </a:txBody>
                  <a:tcPr marL="91440" marR="91440" marT="45720" marB="45720">
                    <a:solidFill>
                      <a:srgbClr val="FFFFFF"/>
                    </a:solidFill>
                  </a:tcPr>
                </a:tc>
                <a:tc>
                  <a:txBody>
                    <a:bodyPr/>
                    <a:lstStyle/>
                    <a:p>
                      <a:r>
                        <a:rPr sz="1725" b="0">
                          <a:solidFill>
                            <a:srgbClr val="142E3A"/>
                          </a:solidFill>
                          <a:latin typeface="Liberation Sans"/>
                          <a:ea typeface="Liberation Sans"/>
                          <a:cs typeface="Liberation Sans"/>
                        </a:rPr>
                        <a:t>1</a:t>
                      </a:r>
                    </a:p>
                  </a:txBody>
                  <a:tcPr marL="91440" marR="91440" marT="45720" marB="45720">
                    <a:solidFill>
                      <a:srgbClr val="FFFFFF"/>
                    </a:solidFill>
                  </a:tcPr>
                </a:tc>
                <a:tc>
                  <a:txBody>
                    <a:bodyPr/>
                    <a:lstStyle/>
                    <a:p>
                      <a:r>
                        <a:rPr sz="1725" b="0">
                          <a:solidFill>
                            <a:srgbClr val="142E3A"/>
                          </a:solidFill>
                          <a:latin typeface="Liberation Sans"/>
                          <a:ea typeface="Liberation Sans"/>
                          <a:cs typeface="Liberation Sans"/>
                        </a:rPr>
                        <a:t>—</a:t>
                      </a:r>
                    </a:p>
                  </a:txBody>
                  <a:tcPr marL="91440" marR="91440" marT="45720" marB="45720">
                    <a:solidFill>
                      <a:srgbClr val="FFFFFF"/>
                    </a:solidFill>
                  </a:tcPr>
                </a:tc>
                <a:tc>
                  <a:txBody>
                    <a:bodyPr/>
                    <a:lstStyle/>
                    <a:p>
                      <a:r>
                        <a:rPr sz="1725" b="0">
                          <a:solidFill>
                            <a:srgbClr val="142E3A"/>
                          </a:solidFill>
                          <a:latin typeface="Liberation Sans"/>
                          <a:ea typeface="Liberation Sans"/>
                          <a:cs typeface="Liberation Sans"/>
                        </a:rPr>
                        <a:t>1</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33369F8-0CC6-4E74-8EBA-E6C130E02078}"/>
              </a:ext>
            </a:extLst>
          </p:cNvPr>
          <p:cNvSpPr>
            <a:spLocks xmlns:a="http://schemas.openxmlformats.org/drawingml/2006/main" noGrp="1"/>
          </p:cNvSpPr>
          <p:nvPr/>
        </p:nvSpPr>
        <p:spPr>
          <a:xfrm xmlns:a="http://schemas.openxmlformats.org/drawingml/2006/main">
            <a:off x="609600" y="51625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3"/>
                </a:solidFill>
                <a:latin typeface="Liberation Sans"/>
                <a:ea typeface="Liberation Sans"/>
                <a:cs typeface="Liberation Sans"/>
              </a:defRPr>
            </a:pPr>
            <a:r>
              <a:rPr sz="2550" b="1">
                <a:solidFill>
                  <a:srgbClr val="087F83"/>
                </a:solidFill>
                <a:latin typeface="Liberation Sans"/>
                <a:ea typeface="Liberation Sans"/>
                <a:cs typeface="Liberation Sans"/>
              </a:rPr>
              <a:t>11 libraries per donor × 3 donors = 33</a:t>
            </a:r>
          </a:p>
        </p:txBody>
      </p:sp>
      <p:sp>
        <p:nvSpPr>
          <p:cNvPr id="8" name="">
            <a:extLst xmlns:a="http://schemas.openxmlformats.org/drawingml/2006/main">
              <a:ext uri="{FF2B5EF4-FFF2-40B4-BE49-F238E27FC236}">
                <a16:creationId xmlns:a16="http://schemas.microsoft.com/office/drawing/2014/main" id="{780DFBB1-A5F0-416D-9BBC-6CFB23BAF78E}"/>
              </a:ext>
            </a:extLst>
          </p:cNvPr>
          <p:cNvSpPr>
            <a:spLocks xmlns:a="http://schemas.openxmlformats.org/drawingml/2006/main" noGrp="1"/>
          </p:cNvSpPr>
          <p:nvPr/>
        </p:nvSpPr>
        <p:spPr>
          <a:xfrm xmlns:a="http://schemas.openxmlformats.org/drawingml/2006/main">
            <a:off x="609600" y="57626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671"/>
                </a:solidFill>
                <a:latin typeface="Liberation Sans"/>
                <a:ea typeface="Liberation Sans"/>
                <a:cs typeface="Liberation Sans"/>
              </a:defRPr>
            </a:pPr>
            <a:r>
              <a:rPr sz="1500" b="0">
                <a:solidFill>
                  <a:srgbClr val="536671"/>
                </a:solidFill>
                <a:latin typeface="Liberation Sans"/>
                <a:ea typeface="Liberation Sans"/>
                <a:cs typeface="Liberation Sans"/>
              </a:rPr>
              <a:t>Proposed D17 branch. Feasibility and donor count require experimental partner review.</a:t>
            </a:r>
          </a:p>
        </p:txBody>
      </p:sp>
    </p:spTree>
    <p:extLst>
      <p:ext uri="{BB962C8B-B14F-4D97-AF65-F5344CB8AC3E}">
        <p14:creationId xmlns:p14="http://schemas.microsoft.com/office/powerpoint/2010/main" val="6662389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3D37364-A481-4E51-8C72-5ABE99DF0CF8}"/>
              </a:ext>
            </a:extLst>
          </p:cNvPr>
          <p:cNvSpPr>
            <a:spLocks xmlns:a="http://schemas.openxmlformats.org/drawingml/2006/main" noGrp="1"/>
          </p:cNvSpPr>
          <p:nvPr/>
        </p:nvSpPr>
        <p:spPr>
          <a:xfrm xmlns:a="http://schemas.openxmlformats.org/drawingml/2006/main">
            <a:off x="609600" y="2952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3"/>
                </a:solidFill>
                <a:latin typeface="Liberation Sans"/>
                <a:ea typeface="Liberation Sans"/>
                <a:cs typeface="Liberation Sans"/>
              </a:defRPr>
            </a:pPr>
            <a:r>
              <a:rPr sz="1200" b="1">
                <a:solidFill>
                  <a:srgbClr val="087F83"/>
                </a:solidFill>
                <a:latin typeface="Liberation Sans"/>
                <a:ea typeface="Liberation Sans"/>
                <a:cs typeface="Liberation Sans"/>
              </a:rPr>
              <a:t>PUBLIC DATA · OCTOBER 2026</a:t>
            </a:r>
          </a:p>
        </p:txBody>
      </p:sp>
      <p:sp>
        <p:nvSpPr>
          <p:cNvPr id="2" name="">
            <a:extLst xmlns:a="http://schemas.openxmlformats.org/drawingml/2006/main">
              <a:ext uri="{FF2B5EF4-FFF2-40B4-BE49-F238E27FC236}">
                <a16:creationId xmlns:a16="http://schemas.microsoft.com/office/drawing/2014/main" id="{9D0AFCAC-C663-4609-9F5D-240906D28A2A}"/>
              </a:ext>
            </a:extLst>
          </p:cNvPr>
          <p:cNvSpPr>
            <a:spLocks xmlns:a="http://schemas.openxmlformats.org/drawingml/2006/main" noGrp="1"/>
          </p:cNvSpPr>
          <p:nvPr/>
        </p:nvSpPr>
        <p:spPr>
          <a:xfrm xmlns:a="http://schemas.openxmlformats.org/drawingml/2006/main">
            <a:off x="609600" y="781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Fund the missing observation in stages</a:t>
            </a:r>
          </a:p>
        </p:txBody>
      </p:sp>
      <p:sp>
        <p:nvSpPr>
          <p:cNvPr id="3" name="">
            <a:extLst xmlns:a="http://schemas.openxmlformats.org/drawingml/2006/main">
              <a:ext uri="{FF2B5EF4-FFF2-40B4-BE49-F238E27FC236}">
                <a16:creationId xmlns:a16="http://schemas.microsoft.com/office/drawing/2014/main" id="{BF84F165-F44A-405B-96FE-7B0A48B1FE9C}"/>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E4D00F-97AB-4D03-B5B3-D6BDA10ADFED}"/>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671"/>
                </a:solidFill>
                <a:latin typeface="Liberation Sans"/>
                <a:ea typeface="Liberation Sans"/>
                <a:cs typeface="Liberation Sans"/>
              </a:defRPr>
            </a:pPr>
            <a:r>
              <a:rPr sz="1050" b="0">
                <a:solidFill>
                  <a:srgbClr val="536671"/>
                </a:solidFill>
                <a:latin typeface="Liberation Sans"/>
                <a:ea typeface="Liberation Sans"/>
                <a:cs typeface="Liberation Sans"/>
              </a:rPr>
              <a:t>FRG / SproutSeeds  ·  Computational findings; biological claims remain Heuristic</a:t>
            </a:r>
          </a:p>
        </p:txBody>
      </p:sp>
      <p:sp>
        <p:nvSpPr>
          <p:cNvPr id="5" name="">
            <a:extLst xmlns:a="http://schemas.openxmlformats.org/drawingml/2006/main">
              <a:ext uri="{FF2B5EF4-FFF2-40B4-BE49-F238E27FC236}">
                <a16:creationId xmlns:a16="http://schemas.microsoft.com/office/drawing/2014/main" id="{61A0EA7D-DF14-416E-BDA4-B0DC969F2576}"/>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10</a:t>
            </a:r>
          </a:p>
        </p:txBody>
      </p:sp>
      <p:sp>
        <p:nvSpPr>
          <p:cNvPr id="6" name="">
            <a:extLst xmlns:a="http://schemas.openxmlformats.org/drawingml/2006/main">
              <a:ext uri="{FF2B5EF4-FFF2-40B4-BE49-F238E27FC236}">
                <a16:creationId xmlns:a16="http://schemas.microsoft.com/office/drawing/2014/main" id="{4BCBC04C-7D94-407F-BDB5-17FC5AA9BC7E}"/>
              </a:ext>
            </a:extLst>
          </p:cNvPr>
          <p:cNvSpPr>
            <a:spLocks xmlns:a="http://schemas.openxmlformats.org/drawingml/2006/main" noGrp="1"/>
          </p:cNvSpPr>
          <p:nvPr/>
        </p:nvSpPr>
        <p:spPr>
          <a:xfrm xmlns:a="http://schemas.openxmlformats.org/drawingml/2006/main">
            <a:off x="609600" y="195262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Liberation Sans"/>
                <a:ea typeface="Liberation Sans"/>
                <a:cs typeface="Liberation Sans"/>
              </a:defRPr>
            </a:pPr>
            <a:r>
              <a:rPr sz="2250" b="1">
                <a:solidFill>
                  <a:srgbClr val="087F83"/>
                </a:solidFill>
                <a:latin typeface="Liberation Sans"/>
                <a:ea typeface="Liberation Sans"/>
                <a:cs typeface="Liberation Sans"/>
              </a:rPr>
              <a:t>First</a:t>
            </a:r>
          </a:p>
        </p:txBody>
      </p:sp>
      <p:sp>
        <p:nvSpPr>
          <p:cNvPr id="7" name="">
            <a:extLst xmlns:a="http://schemas.openxmlformats.org/drawingml/2006/main">
              <a:ext uri="{FF2B5EF4-FFF2-40B4-BE49-F238E27FC236}">
                <a16:creationId xmlns:a16="http://schemas.microsoft.com/office/drawing/2014/main" id="{493AFC8E-6665-48F7-ADC0-0C698765D64B}"/>
              </a:ext>
            </a:extLst>
          </p:cNvPr>
          <p:cNvSpPr>
            <a:spLocks xmlns:a="http://schemas.openxmlformats.org/drawingml/2006/main" noGrp="1"/>
          </p:cNvSpPr>
          <p:nvPr/>
        </p:nvSpPr>
        <p:spPr>
          <a:xfrm xmlns:a="http://schemas.openxmlformats.org/drawingml/2006/main">
            <a:off x="3762375" y="1952625"/>
            <a:ext cx="771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E3A"/>
                </a:solidFill>
                <a:latin typeface="Liberation Sans"/>
                <a:ea typeface="Liberation Sans"/>
                <a:cs typeface="Liberation Sans"/>
              </a:defRPr>
            </a:pPr>
            <a:r>
              <a:rPr sz="1950" b="0">
                <a:solidFill>
                  <a:srgbClr val="142E3A"/>
                </a:solidFill>
                <a:latin typeface="Liberation Sans"/>
                <a:ea typeface="Liberation Sans"/>
                <a:cs typeface="Liberation Sans"/>
              </a:rPr>
              <a:t>Recover metadata and assess compatible banked material.</a:t>
            </a:r>
          </a:p>
        </p:txBody>
      </p:sp>
      <p:sp>
        <p:nvSpPr>
          <p:cNvPr id="8" name="">
            <a:extLst xmlns:a="http://schemas.openxmlformats.org/drawingml/2006/main">
              <a:ext uri="{FF2B5EF4-FFF2-40B4-BE49-F238E27FC236}">
                <a16:creationId xmlns:a16="http://schemas.microsoft.com/office/drawing/2014/main" id="{AF4A500B-140E-41D9-83B1-F0DDE8AAE856}"/>
              </a:ext>
            </a:extLst>
          </p:cNvPr>
          <p:cNvSpPr>
            <a:spLocks xmlns:a="http://schemas.openxmlformats.org/drawingml/2006/main" noGrp="1"/>
          </p:cNvSpPr>
          <p:nvPr/>
        </p:nvSpPr>
        <p:spPr>
          <a:xfrm xmlns:a="http://schemas.openxmlformats.org/drawingml/2006/main">
            <a:off x="609600" y="281940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Liberation Sans"/>
                <a:ea typeface="Liberation Sans"/>
                <a:cs typeface="Liberation Sans"/>
              </a:defRPr>
            </a:pPr>
            <a:r>
              <a:rPr sz="2250" b="1">
                <a:solidFill>
                  <a:srgbClr val="087F83"/>
                </a:solidFill>
                <a:latin typeface="Liberation Sans"/>
                <a:ea typeface="Liberation Sans"/>
                <a:cs typeface="Liberation Sans"/>
              </a:rPr>
              <a:t>33 libraries</a:t>
            </a:r>
          </a:p>
        </p:txBody>
      </p:sp>
      <p:sp>
        <p:nvSpPr>
          <p:cNvPr id="9" name="">
            <a:extLst xmlns:a="http://schemas.openxmlformats.org/drawingml/2006/main">
              <a:ext uri="{FF2B5EF4-FFF2-40B4-BE49-F238E27FC236}">
                <a16:creationId xmlns:a16="http://schemas.microsoft.com/office/drawing/2014/main" id="{07733ADE-1845-4B64-A632-82CBD0B5F845}"/>
              </a:ext>
            </a:extLst>
          </p:cNvPr>
          <p:cNvSpPr>
            <a:spLocks xmlns:a="http://schemas.openxmlformats.org/drawingml/2006/main" noGrp="1"/>
          </p:cNvSpPr>
          <p:nvPr/>
        </p:nvSpPr>
        <p:spPr>
          <a:xfrm xmlns:a="http://schemas.openxmlformats.org/drawingml/2006/main">
            <a:off x="3762375" y="2819400"/>
            <a:ext cx="771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E3A"/>
                </a:solidFill>
                <a:latin typeface="Liberation Sans"/>
                <a:ea typeface="Liberation Sans"/>
                <a:cs typeface="Liberation Sans"/>
              </a:defRPr>
            </a:pPr>
            <a:r>
              <a:rPr sz="1950" b="0">
                <a:solidFill>
                  <a:srgbClr val="142E3A"/>
                </a:solidFill>
                <a:latin typeface="Liberation Sans"/>
                <a:ea typeface="Liberation Sans"/>
                <a:cs typeface="Liberation Sans"/>
              </a:rPr>
              <a:t>Focused feasibility pilot; estimate donor variance and assay performance.</a:t>
            </a:r>
          </a:p>
        </p:txBody>
      </p:sp>
      <p:sp>
        <p:nvSpPr>
          <p:cNvPr id="10" name="">
            <a:extLst xmlns:a="http://schemas.openxmlformats.org/drawingml/2006/main">
              <a:ext uri="{FF2B5EF4-FFF2-40B4-BE49-F238E27FC236}">
                <a16:creationId xmlns:a16="http://schemas.microsoft.com/office/drawing/2014/main" id="{767943C9-EA1F-4020-BB11-567691CE0304}"/>
              </a:ext>
            </a:extLst>
          </p:cNvPr>
          <p:cNvSpPr>
            <a:spLocks xmlns:a="http://schemas.openxmlformats.org/drawingml/2006/main" noGrp="1"/>
          </p:cNvSpPr>
          <p:nvPr/>
        </p:nvSpPr>
        <p:spPr>
          <a:xfrm xmlns:a="http://schemas.openxmlformats.org/drawingml/2006/main">
            <a:off x="609600" y="368617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Liberation Sans"/>
                <a:ea typeface="Liberation Sans"/>
                <a:cs typeface="Liberation Sans"/>
              </a:defRPr>
            </a:pPr>
            <a:r>
              <a:rPr sz="2250" b="1">
                <a:solidFill>
                  <a:srgbClr val="087F83"/>
                </a:solidFill>
                <a:latin typeface="Liberation Sans"/>
                <a:ea typeface="Liberation Sans"/>
                <a:cs typeface="Liberation Sans"/>
              </a:rPr>
              <a:t>57 libraries</a:t>
            </a:r>
          </a:p>
        </p:txBody>
      </p:sp>
      <p:sp>
        <p:nvSpPr>
          <p:cNvPr id="11" name="">
            <a:extLst xmlns:a="http://schemas.openxmlformats.org/drawingml/2006/main">
              <a:ext uri="{FF2B5EF4-FFF2-40B4-BE49-F238E27FC236}">
                <a16:creationId xmlns:a16="http://schemas.microsoft.com/office/drawing/2014/main" id="{0A750935-988E-4945-ACB8-E2ADAB2D1A22}"/>
              </a:ext>
            </a:extLst>
          </p:cNvPr>
          <p:cNvSpPr>
            <a:spLocks xmlns:a="http://schemas.openxmlformats.org/drawingml/2006/main" noGrp="1"/>
          </p:cNvSpPr>
          <p:nvPr/>
        </p:nvSpPr>
        <p:spPr>
          <a:xfrm xmlns:a="http://schemas.openxmlformats.org/drawingml/2006/main">
            <a:off x="3762375" y="3686175"/>
            <a:ext cx="771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E3A"/>
                </a:solidFill>
                <a:latin typeface="Liberation Sans"/>
                <a:ea typeface="Liberation Sans"/>
                <a:cs typeface="Liberation Sans"/>
              </a:defRPr>
            </a:pPr>
            <a:r>
              <a:rPr sz="1950" b="0">
                <a:solidFill>
                  <a:srgbClr val="142E3A"/>
                </a:solidFill>
                <a:latin typeface="Liberation Sans"/>
                <a:ea typeface="Liberation Sans"/>
                <a:cs typeface="Liberation Sans"/>
              </a:rPr>
              <a:t>Full nine-timepoint ladder, including four earlier reference/induced pairs.</a:t>
            </a:r>
          </a:p>
        </p:txBody>
      </p:sp>
      <p:sp>
        <p:nvSpPr>
          <p:cNvPr id="12" name="">
            <a:extLst xmlns:a="http://schemas.openxmlformats.org/drawingml/2006/main">
              <a:ext uri="{FF2B5EF4-FFF2-40B4-BE49-F238E27FC236}">
                <a16:creationId xmlns:a16="http://schemas.microsoft.com/office/drawing/2014/main" id="{4755D28F-6DB5-40DB-B100-B8BCA489AF28}"/>
              </a:ext>
            </a:extLst>
          </p:cNvPr>
          <p:cNvSpPr>
            <a:spLocks xmlns:a="http://schemas.openxmlformats.org/drawingml/2006/main" noGrp="1"/>
          </p:cNvSpPr>
          <p:nvPr/>
        </p:nvSpPr>
        <p:spPr>
          <a:xfrm xmlns:a="http://schemas.openxmlformats.org/drawingml/2006/main">
            <a:off x="609600" y="45529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Liberation Sans"/>
                <a:ea typeface="Liberation Sans"/>
                <a:cs typeface="Liberation Sans"/>
              </a:defRPr>
            </a:pPr>
            <a:r>
              <a:rPr sz="2250" b="1">
                <a:solidFill>
                  <a:srgbClr val="087F83"/>
                </a:solidFill>
                <a:latin typeface="Liberation Sans"/>
                <a:ea typeface="Liberation Sans"/>
                <a:cs typeface="Liberation Sans"/>
              </a:rPr>
              <a:t>Then</a:t>
            </a:r>
          </a:p>
        </p:txBody>
      </p:sp>
      <p:sp>
        <p:nvSpPr>
          <p:cNvPr id="13" name="">
            <a:extLst xmlns:a="http://schemas.openxmlformats.org/drawingml/2006/main">
              <a:ext uri="{FF2B5EF4-FFF2-40B4-BE49-F238E27FC236}">
                <a16:creationId xmlns:a16="http://schemas.microsoft.com/office/drawing/2014/main" id="{E130B7F6-ADA2-4E95-9376-030519CD41D1}"/>
              </a:ext>
            </a:extLst>
          </p:cNvPr>
          <p:cNvSpPr>
            <a:spLocks xmlns:a="http://schemas.openxmlformats.org/drawingml/2006/main" noGrp="1"/>
          </p:cNvSpPr>
          <p:nvPr/>
        </p:nvSpPr>
        <p:spPr>
          <a:xfrm xmlns:a="http://schemas.openxmlformats.org/drawingml/2006/main">
            <a:off x="3762375" y="4552950"/>
            <a:ext cx="771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E3A"/>
                </a:solidFill>
                <a:latin typeface="Liberation Sans"/>
                <a:ea typeface="Liberation Sans"/>
                <a:cs typeface="Liberation Sans"/>
              </a:defRPr>
            </a:pPr>
            <a:r>
              <a:rPr sz="1950" b="0">
                <a:solidFill>
                  <a:srgbClr val="142E3A"/>
                </a:solidFill>
                <a:latin typeface="Liberation Sans"/>
                <a:ea typeface="Liberation Sans"/>
                <a:cs typeface="Liberation Sans"/>
              </a:rPr>
              <a:t>Longer recovery and a separate retinal/RPE functional bridge, if justified.</a:t>
            </a:r>
          </a:p>
        </p:txBody>
      </p:sp>
      <p:sp>
        <p:nvSpPr>
          <p:cNvPr id="14" name="">
            <a:extLst xmlns:a="http://schemas.openxmlformats.org/drawingml/2006/main">
              <a:ext uri="{FF2B5EF4-FFF2-40B4-BE49-F238E27FC236}">
                <a16:creationId xmlns:a16="http://schemas.microsoft.com/office/drawing/2014/main" id="{473889B5-2207-4DF1-950C-08741971EBD0}"/>
              </a:ext>
            </a:extLst>
          </p:cNvPr>
          <p:cNvSpPr>
            <a:spLocks xmlns:a="http://schemas.openxmlformats.org/drawingml/2006/main" noGrp="1"/>
          </p:cNvSpPr>
          <p:nvPr/>
        </p:nvSpPr>
        <p:spPr>
          <a:xfrm xmlns:a="http://schemas.openxmlformats.org/drawingml/2006/main">
            <a:off x="609600" y="56578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671"/>
                </a:solidFill>
                <a:latin typeface="Liberation Sans"/>
                <a:ea typeface="Liberation Sans"/>
                <a:cs typeface="Liberation Sans"/>
              </a:defRPr>
            </a:pPr>
            <a:r>
              <a:rPr sz="1575" b="0">
                <a:solidFill>
                  <a:srgbClr val="536671"/>
                </a:solidFill>
                <a:latin typeface="Liberation Sans"/>
                <a:ea typeface="Liberation Sans"/>
                <a:cs typeface="Liberation Sans"/>
              </a:rPr>
              <a:t>Partner, calibrated endpoints and real quotes are pending. No wet-lab work has been purchased or arranged.</a:t>
            </a:r>
          </a:p>
        </p:txBody>
      </p:sp>
    </p:spTree>
    <p:extLst>
      <p:ext uri="{BB962C8B-B14F-4D97-AF65-F5344CB8AC3E}">
        <p14:creationId xmlns:p14="http://schemas.microsoft.com/office/powerpoint/2010/main" val="3657004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216BE9-0196-428F-83DE-53D6C31E9319}"/>
              </a:ext>
            </a:extLst>
          </p:cNvPr>
          <p:cNvSpPr>
            <a:spLocks xmlns:a="http://schemas.openxmlformats.org/drawingml/2006/main" noGrp="1"/>
          </p:cNvSpPr>
          <p:nvPr/>
        </p:nvSpPr>
        <p:spPr>
          <a:xfrm xmlns:a="http://schemas.openxmlformats.org/drawingml/2006/main">
            <a:off x="609600" y="2952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3"/>
                </a:solidFill>
                <a:latin typeface="Liberation Sans"/>
                <a:ea typeface="Liberation Sans"/>
                <a:cs typeface="Liberation Sans"/>
              </a:defRPr>
            </a:pPr>
            <a:r>
              <a:rPr sz="1200" b="1">
                <a:solidFill>
                  <a:srgbClr val="087F83"/>
                </a:solidFill>
                <a:latin typeface="Liberation Sans"/>
                <a:ea typeface="Liberation Sans"/>
                <a:cs typeface="Liberation Sans"/>
              </a:rPr>
              <a:t>PUBLIC DATA · OCTOBER 2026</a:t>
            </a:r>
          </a:p>
        </p:txBody>
      </p:sp>
      <p:sp>
        <p:nvSpPr>
          <p:cNvPr id="2" name="">
            <a:extLst xmlns:a="http://schemas.openxmlformats.org/drawingml/2006/main">
              <a:ext uri="{FF2B5EF4-FFF2-40B4-BE49-F238E27FC236}">
                <a16:creationId xmlns:a16="http://schemas.microsoft.com/office/drawing/2014/main" id="{95A558A9-7396-4E86-B7A6-AC057591F960}"/>
              </a:ext>
            </a:extLst>
          </p:cNvPr>
          <p:cNvSpPr>
            <a:spLocks xmlns:a="http://schemas.openxmlformats.org/drawingml/2006/main" noGrp="1"/>
          </p:cNvSpPr>
          <p:nvPr/>
        </p:nvSpPr>
        <p:spPr>
          <a:xfrm xmlns:a="http://schemas.openxmlformats.org/drawingml/2006/main">
            <a:off x="609600" y="781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E3A"/>
                </a:solidFill>
                <a:latin typeface="Liberation Sans"/>
                <a:ea typeface="Liberation Sans"/>
                <a:cs typeface="Liberation Sans"/>
              </a:defRPr>
            </a:pPr>
            <a:r>
              <a:rPr sz="3150" b="1">
                <a:solidFill>
                  <a:srgbClr val="142E3A"/>
                </a:solidFill>
                <a:latin typeface="Liberation Sans"/>
                <a:ea typeface="Liberation Sans"/>
                <a:cs typeface="Liberation Sans"/>
              </a:rPr>
              <a:t>A public result others can inspect and extend</a:t>
            </a:r>
          </a:p>
        </p:txBody>
      </p:sp>
      <p:sp>
        <p:nvSpPr>
          <p:cNvPr id="3" name="">
            <a:extLst xmlns:a="http://schemas.openxmlformats.org/drawingml/2006/main">
              <a:ext uri="{FF2B5EF4-FFF2-40B4-BE49-F238E27FC236}">
                <a16:creationId xmlns:a16="http://schemas.microsoft.com/office/drawing/2014/main" id="{C9ED33E0-F327-44DF-83CB-384F382F9EFF}"/>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CFDD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00A9BD-B0D5-49CE-B47F-E550FAF191C8}"/>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671"/>
                </a:solidFill>
                <a:latin typeface="Liberation Sans"/>
                <a:ea typeface="Liberation Sans"/>
                <a:cs typeface="Liberation Sans"/>
              </a:defRPr>
            </a:pPr>
            <a:r>
              <a:rPr sz="1050" b="0">
                <a:solidFill>
                  <a:srgbClr val="536671"/>
                </a:solidFill>
                <a:latin typeface="Liberation Sans"/>
                <a:ea typeface="Liberation Sans"/>
                <a:cs typeface="Liberation Sans"/>
              </a:rPr>
              <a:t>FRG / SproutSeeds  ·  Computational findings; biological claims remain Heuristic</a:t>
            </a:r>
          </a:p>
        </p:txBody>
      </p:sp>
      <p:sp>
        <p:nvSpPr>
          <p:cNvPr id="5" name="">
            <a:extLst xmlns:a="http://schemas.openxmlformats.org/drawingml/2006/main">
              <a:ext uri="{FF2B5EF4-FFF2-40B4-BE49-F238E27FC236}">
                <a16:creationId xmlns:a16="http://schemas.microsoft.com/office/drawing/2014/main" id="{F2567216-5ECB-4DFC-A2A3-2AFB57571585}"/>
              </a:ext>
            </a:extLst>
          </p:cNvPr>
          <p:cNvSpPr>
            <a:spLocks xmlns:a="http://schemas.openxmlformats.org/drawingml/2006/main" noGrp="1"/>
          </p:cNvSpPr>
          <p:nvPr/>
        </p:nvSpPr>
        <p:spPr>
          <a:xfrm xmlns:a="http://schemas.openxmlformats.org/drawingml/2006/main">
            <a:off x="11096625"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3"/>
                </a:solidFill>
                <a:latin typeface="Liberation Sans"/>
                <a:ea typeface="Liberation Sans"/>
                <a:cs typeface="Liberation Sans"/>
              </a:defRPr>
            </a:pPr>
            <a:r>
              <a:rPr sz="1350" b="1">
                <a:solidFill>
                  <a:srgbClr val="087F83"/>
                </a:solidFill>
                <a:latin typeface="Liberation Sans"/>
                <a:ea typeface="Liberation Sans"/>
                <a:cs typeface="Liberation Sans"/>
              </a:rPr>
              <a:t>11</a:t>
            </a:r>
          </a:p>
        </p:txBody>
      </p:sp>
      <p:sp>
        <p:nvSpPr>
          <p:cNvPr id="6" name="">
            <a:extLst xmlns:a="http://schemas.openxmlformats.org/drawingml/2006/main">
              <a:ext uri="{FF2B5EF4-FFF2-40B4-BE49-F238E27FC236}">
                <a16:creationId xmlns:a16="http://schemas.microsoft.com/office/drawing/2014/main" id="{38517F11-327C-434D-B291-2C9720890A45}"/>
              </a:ext>
            </a:extLst>
          </p:cNvPr>
          <p:cNvSpPr>
            <a:spLocks xmlns:a="http://schemas.openxmlformats.org/drawingml/2006/main" noGrp="1"/>
          </p:cNvSpPr>
          <p:nvPr/>
        </p:nvSpPr>
        <p:spPr>
          <a:xfrm xmlns:a="http://schemas.openxmlformats.org/drawingml/2006/main">
            <a:off x="609600" y="2019300"/>
            <a:ext cx="10763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F83"/>
                </a:solidFill>
                <a:latin typeface="Liberation Sans"/>
                <a:ea typeface="Liberation Sans"/>
                <a:cs typeface="Liberation Sans"/>
              </a:defRPr>
            </a:pPr>
            <a:r>
              <a:rPr sz="2475" b="1">
                <a:solidFill>
                  <a:srgbClr val="087F83"/>
                </a:solidFill>
                <a:latin typeface="Liberation Sans"/>
                <a:ea typeface="Liberation Sans"/>
                <a:cs typeface="Liberation Sans"/>
              </a:rPr>
              <a:t>Code · source hashes · measured results · model card</a:t>
            </a:r>
          </a:p>
          <a:p xmlns:a="http://schemas.openxmlformats.org/drawingml/2006/main">
            <a:pPr>
              <a:defRPr sz="2475" b="1">
                <a:solidFill>
                  <a:srgbClr val="087F83"/>
                </a:solidFill>
                <a:latin typeface="Liberation Sans"/>
                <a:ea typeface="Liberation Sans"/>
                <a:cs typeface="Liberation Sans"/>
              </a:defRPr>
            </a:pPr>
            <a:r>
              <a:rPr sz="2475" b="1">
                <a:solidFill>
                  <a:srgbClr val="087F83"/>
                </a:solidFill>
                <a:latin typeface="Liberation Sans"/>
                <a:ea typeface="Liberation Sans"/>
                <a:cs typeface="Liberation Sans"/>
              </a:rPr>
              <a:t>Synthetic assumptions · failed paths · funding design</a:t>
            </a:r>
          </a:p>
        </p:txBody>
      </p:sp>
      <p:sp>
        <p:nvSpPr>
          <p:cNvPr id="7" name="">
            <a:extLst xmlns:a="http://schemas.openxmlformats.org/drawingml/2006/main">
              <a:ext uri="{FF2B5EF4-FFF2-40B4-BE49-F238E27FC236}">
                <a16:creationId xmlns:a16="http://schemas.microsoft.com/office/drawing/2014/main" id="{B5330AB9-B5FA-4106-8781-D5923435AF74}"/>
              </a:ext>
            </a:extLst>
          </p:cNvPr>
          <p:cNvSpPr>
            <a:spLocks xmlns:a="http://schemas.openxmlformats.org/drawingml/2006/main" noGrp="1"/>
          </p:cNvSpPr>
          <p:nvPr/>
        </p:nvSpPr>
        <p:spPr>
          <a:xfrm xmlns:a="http://schemas.openxmlformats.org/drawingml/2006/main">
            <a:off x="609600" y="3695700"/>
            <a:ext cx="10668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3A"/>
                </a:solidFill>
                <a:latin typeface="Liberation Sans"/>
                <a:ea typeface="Liberation Sans"/>
                <a:cs typeface="Liberation Sans"/>
              </a:defRPr>
            </a:pPr>
            <a:r>
              <a:rPr sz="2100" b="0">
                <a:solidFill>
                  <a:srgbClr val="142E3A"/>
                </a:solidFill>
                <a:latin typeface="Liberation Sans"/>
                <a:ea typeface="Liberation Sans"/>
                <a:cs typeface="Liberation Sans"/>
              </a:rPr>
              <a:t>75 computational checks + 12 scientific failure-case tests</a:t>
            </a:r>
          </a:p>
          <a:p xmlns:a="http://schemas.openxmlformats.org/drawingml/2006/main">
            <a:r>
              <a:t/>
            </a:r>
          </a:p>
          <a:p xmlns:a="http://schemas.openxmlformats.org/drawingml/2006/main">
            <a:pPr>
              <a:defRPr sz="2100" b="0">
                <a:solidFill>
                  <a:srgbClr val="142E3A"/>
                </a:solidFill>
                <a:latin typeface="Liberation Sans"/>
                <a:ea typeface="Liberation Sans"/>
                <a:cs typeface="Liberation Sans"/>
              </a:defRPr>
            </a:pPr>
            <a:r>
              <a:rPr sz="2100" b="0">
                <a:solidFill>
                  <a:srgbClr val="142E3A"/>
                </a:solidFill>
                <a:latin typeface="Liberation Sans"/>
                <a:ea typeface="Liberation Sans"/>
                <a:cs typeface="Liberation Sans"/>
              </a:rPr>
              <a:t>All four biological readouts remain open.</a:t>
            </a:r>
          </a:p>
          <a:p xmlns:a="http://schemas.openxmlformats.org/drawingml/2006/main">
            <a:r>
              <a:t/>
            </a:r>
          </a:p>
          <a:p xmlns:a="http://schemas.openxmlformats.org/drawingml/2006/main">
            <a:pPr>
              <a:defRPr sz="2100" b="0">
                <a:solidFill>
                  <a:srgbClr val="142E3A"/>
                </a:solidFill>
                <a:latin typeface="Liberation Sans"/>
                <a:ea typeface="Liberation Sans"/>
                <a:cs typeface="Liberation Sans"/>
              </a:defRPr>
            </a:pPr>
            <a:r>
              <a:rPr sz="2100" b="0">
                <a:solidFill>
                  <a:srgbClr val="142E3A"/>
                </a:solidFill>
                <a:latin typeface="Liberation Sans"/>
                <a:ea typeface="Liberation Sans"/>
                <a:cs typeface="Liberation Sans"/>
              </a:rPr>
              <a:t>The most useful next contribution is the exact missing dataset or metadata.</a:t>
            </a:r>
          </a:p>
        </p:txBody>
      </p:sp>
      <p:sp>
        <p:nvSpPr>
          <p:cNvPr id="8" name="">
            <a:extLst xmlns:a="http://schemas.openxmlformats.org/drawingml/2006/main">
              <a:ext uri="{FF2B5EF4-FFF2-40B4-BE49-F238E27FC236}">
                <a16:creationId xmlns:a16="http://schemas.microsoft.com/office/drawing/2014/main" id="{42339165-D15D-42D1-A2C6-66FF1883D700}"/>
              </a:ext>
            </a:extLst>
          </p:cNvPr>
          <p:cNvSpPr>
            <a:spLocks xmlns:a="http://schemas.openxmlformats.org/drawingml/2006/main" noGrp="1"/>
          </p:cNvSpPr>
          <p:nvPr/>
        </p:nvSpPr>
        <p:spPr>
          <a:xfrm xmlns:a="http://schemas.openxmlformats.org/drawingml/2006/main">
            <a:off x="609600" y="57150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3"/>
                </a:solidFill>
                <a:latin typeface="Liberation Sans"/>
                <a:ea typeface="Liberation Sans"/>
                <a:cs typeface="Liberation Sans"/>
              </a:defRPr>
            </a:pPr>
            <a:r>
              <a:rPr sz="1650" b="1">
                <a:solidFill>
                  <a:srgbClr val="087F83"/>
                </a:solidFill>
                <a:latin typeface="Liberation Sans"/>
                <a:ea typeface="Liberation Sans"/>
                <a:cs typeface="Liberation Sans"/>
              </a:rPr>
              <a:t>github.com/SproutSeeds/retinal-longevity-controller-benchmarks</a:t>
            </a:r>
          </a:p>
        </p:txBody>
      </p:sp>
    </p:spTree>
    <p:extLst>
      <p:ext uri="{BB962C8B-B14F-4D97-AF65-F5344CB8AC3E}">
        <p14:creationId xmlns:p14="http://schemas.microsoft.com/office/powerpoint/2010/main" val="14096974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2026-10-17T15:48:46.4720000Z</dcterms:created>
  <dcterms:modified xsi:type="dcterms:W3CDTF">2026-10-17T15:48:46.4720000Z</dcterms:modified>
</coreProperties>
</file>