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68a5fcdf7d3472c" /><Relationship Type="http://schemas.openxmlformats.org/officeDocument/2006/relationships/extended-properties" Target="/docProps/app.xml" Id="Rf6a09c7f832d48e1" /><Relationship Type="http://schemas.openxmlformats.org/officeDocument/2006/relationships/officeDocument" Target="/ppt/presentation.xml" Id="R073a2a606b83479f" /></Relationships>
</file>

<file path=ppt/presentation.xml><?xml version="1.0" encoding="utf-8"?>
<p:presentation xmlns:p="http://schemas.openxmlformats.org/presentationml/2006/main">
  <p:sldMasterIdLst>
    <p:sldMasterId xmlns:r="http://schemas.openxmlformats.org/officeDocument/2006/relationships" id="2147483648" r:id="Rab19f485c0474099"/>
  </p:sldMasterIdLst>
  <p:notesMasterIdLst>
    <p:notesMasterId xmlns:r="http://schemas.openxmlformats.org/officeDocument/2006/relationships" r:id="R1a216534b4094b23"/>
  </p:notesMasterIdLst>
  <p:sldIdLst>
    <p:sldId xmlns:r="http://schemas.openxmlformats.org/officeDocument/2006/relationships" id="256" r:id="R57234405e2184447"/>
    <p:sldId xmlns:r="http://schemas.openxmlformats.org/officeDocument/2006/relationships" id="257" r:id="R75630270ce9b42dd"/>
    <p:sldId xmlns:r="http://schemas.openxmlformats.org/officeDocument/2006/relationships" id="258" r:id="R311ca43c00804728"/>
    <p:sldId xmlns:r="http://schemas.openxmlformats.org/officeDocument/2006/relationships" id="259" r:id="R9f4e7430a82443d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395cc78168a4454" /><Relationship Type="http://schemas.openxmlformats.org/officeDocument/2006/relationships/slideMaster" Target="/ppt/slideMasters/slideMaster1.xml" Id="Rab19f485c0474099" /><Relationship Type="http://schemas.openxmlformats.org/officeDocument/2006/relationships/notesMaster" Target="/ppt/notesMasters/notesMaster1.xml" Id="R1a216534b4094b23" /><Relationship Type="http://schemas.openxmlformats.org/officeDocument/2006/relationships/presProps" Target="/ppt/presProps.xml" Id="Ra76fdf3123c14bcf" /><Relationship Type="http://schemas.openxmlformats.org/officeDocument/2006/relationships/tableStyles" Target="/ppt/tableStyles.xml" Id="Rcfa6ce2d828b4376" /><Relationship Type="http://schemas.openxmlformats.org/officeDocument/2006/relationships/slide" Target="/ppt/slides/slide1.xml" Id="R57234405e2184447" /><Relationship Type="http://schemas.openxmlformats.org/officeDocument/2006/relationships/slide" Target="/ppt/slides/slide2.xml" Id="R75630270ce9b42dd" /><Relationship Type="http://schemas.openxmlformats.org/officeDocument/2006/relationships/slide" Target="/ppt/slides/slide3.xml" Id="R311ca43c00804728" /><Relationship Type="http://schemas.openxmlformats.org/officeDocument/2006/relationships/slide" Target="/ppt/slides/slide4.xml" Id="R9f4e7430a82443d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e5df94d6ed0440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385fe733475477e" /><Relationship Type="http://schemas.openxmlformats.org/officeDocument/2006/relationships/notesMaster" Target="/ppt/notesMasters/notesMaster1.xml" Id="R3e8b73be564a43f5" /></Relationships>
</file>

<file path=ppt/notesSlides/_rels/notesSlide2.xml.rels>&#65279;<?xml version="1.0" encoding="utf-8"?><Relationships xmlns="http://schemas.openxmlformats.org/package/2006/relationships"><Relationship Type="http://schemas.openxmlformats.org/officeDocument/2006/relationships/slide" Target="/ppt/slides/slide2.xml" Id="Rfa34d79972574578" /><Relationship Type="http://schemas.openxmlformats.org/officeDocument/2006/relationships/notesMaster" Target="/ppt/notesMasters/notesMaster1.xml" Id="R125f65f2dbaf4354" /></Relationships>
</file>

<file path=ppt/notesSlides/_rels/notesSlide3.xml.rels>&#65279;<?xml version="1.0" encoding="utf-8"?><Relationships xmlns="http://schemas.openxmlformats.org/package/2006/relationships"><Relationship Type="http://schemas.openxmlformats.org/officeDocument/2006/relationships/slide" Target="/ppt/slides/slide3.xml" Id="Rf38695b98e594ee6" /><Relationship Type="http://schemas.openxmlformats.org/officeDocument/2006/relationships/notesMaster" Target="/ppt/notesMasters/notesMaster1.xml" Id="Rfaae59ec0d434bbc" /></Relationships>
</file>

<file path=ppt/notesSlides/_rels/notesSlide4.xml.rels>&#65279;<?xml version="1.0" encoding="utf-8"?><Relationships xmlns="http://schemas.openxmlformats.org/package/2006/relationships"><Relationship Type="http://schemas.openxmlformats.org/officeDocument/2006/relationships/slide" Target="/ppt/slides/slide4.xml" Id="Rbc25214885df45e2" /><Relationship Type="http://schemas.openxmlformats.org/officeDocument/2006/relationships/notesMaster" Target="/ppt/notesMasters/notesMaster1.xml" Id="R68cb4f17f6f34c2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analyzed the eight human libraries under a fixed contract. All 46 predefined marker genes were present. Fibroblast markers decreased, while cycle and reprogramming markers increased under both normalization methods. The OSK stress score changed direction between methods. That makes a simple stress-benefit interpretation unreliable. The reprogramming row excludes POU5F1 and SOX2 because the treatment introduces those factors. These are descriptive expression changes from one donor. They do not establish rejuvenation, identity preservation or safety. The public report includes the full panel and every sensitivity.</a:t>
            </a:r>
          </a:p>
          <a:p xmlns:a="http://schemas.openxmlformats.org/drawingml/2006/main">
            <a:r>
              <a:t/>
            </a:r>
          </a:p>
          <a:p xmlns:a="http://schemas.openxmlformats.org/drawingml/2006/main">
            <a:r>
              <a:t>Sources:</a:t>
            </a:r>
          </a:p>
          <a:p xmlns:a="http://schemas.openxmlformats.org/drawingml/2006/main">
            <a:r>
              <a:t>https://github.com/SproutSeeds/retinal-longevity-controller-benchmarks/tree/main/research/2026-10-independent-comparator/human-results.json</a:t>
            </a:r>
          </a:p>
          <a:p xmlns:a="http://schemas.openxmlformats.org/drawingml/2006/main">
            <a:r>
              <a:t>https://www.ncbi.nlm.nih.gov/geo/query/acc.cgi?acc=GSE297233</a:t>
            </a:r>
          </a:p>
          <a:p xmlns:a="http://schemas.openxmlformats.org/drawingml/2006/main">
            <a:r>
              <a:t>https://doi.org/10.1016/j.cell.2025.07.031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verified the deposited mouse neural object against its repository checksum, raw count columns and the authors’ animal map. The seven animals include two old treated, three old untreated and two young untreated mice. The deposited subset omits all withdrawal samples. Both young animals occur in lane three, which limits age comparisons. Four numeric clusters totaling seventy cells still lack biological labels. This pass verifies that an animal-level analysis is possible. I have not yet run neural expression contrasts. The next contract will keep expression within a cell type separate from changes in the mix of recovered cells.</a:t>
            </a:r>
          </a:p>
          <a:p xmlns:a="http://schemas.openxmlformats.org/drawingml/2006/main">
            <a:r>
              <a:t/>
            </a:r>
          </a:p>
          <a:p xmlns:a="http://schemas.openxmlformats.org/drawingml/2006/main">
            <a:r>
              <a:t>Sources:</a:t>
            </a:r>
          </a:p>
          <a:p xmlns:a="http://schemas.openxmlformats.org/drawingml/2006/main">
            <a:r>
              <a:t>https://github.com/SproutSeeds/retinal-longevity-controller-benchmarks/tree/main/research/2026-10-independent-comparator/neural-admission.json</a:t>
            </a:r>
          </a:p>
          <a:p xmlns:a="http://schemas.openxmlformats.org/drawingml/2006/main">
            <a:r>
              <a:t>https://github.com/SproutSeeds/retinal-longevity-controller-benchmarks/tree/main/research/2026-10-independent-comparator/NEURAL_NEXT.md</a:t>
            </a:r>
          </a:p>
          <a:p xmlns:a="http://schemas.openxmlformats.org/drawingml/2006/main">
            <a:r>
              <a:t>https://doi.org/10.1038/s43587-024-00594-3</a:t>
            </a:r>
          </a:p>
          <a:p xmlns:a="http://schemas.openxmlformats.org/drawingml/2006/main">
            <a:r>
              <a:t>https://doi.org/10.5281/zenodo.10626910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simulation keeps the total at twelve hundred cells. Under the displayed hypothetical assumptions, balanced sampling across six donors yields about a sixty-eight percent chance of flags in at least two donors. An imbalanced six-donor allocation yields about forty-two percent. Requiring two donors reduces false alarms, but it also loses sensitivity. With no true unusual states and ninety-nine point nine percent specificity, the balanced design still has about a thirty percent chance of two flagged donors when errors are independent. The detector needs empirical calibration. These simulations guide analysis design; they do not create biological observations or establish a sample size.</a:t>
            </a:r>
          </a:p>
          <a:p xmlns:a="http://schemas.openxmlformats.org/drawingml/2006/main">
            <a:r>
              <a:t/>
            </a:r>
          </a:p>
          <a:p xmlns:a="http://schemas.openxmlformats.org/drawingml/2006/main">
            <a:r>
              <a:t>Sources:</a:t>
            </a:r>
          </a:p>
          <a:p xmlns:a="http://schemas.openxmlformats.org/drawingml/2006/main">
            <a:r>
              <a:t>https://github.com/SproutSeeds/retinal-longevity-controller-benchmarks/tree/main/research/2026-10-independent-comparator/synthetic-results.json</a:t>
            </a:r>
          </a:p>
          <a:p xmlns:a="http://schemas.openxmlformats.org/drawingml/2006/main">
            <a:r>
              <a:t>https://github.com/SproutSeeds/retinal-longevity-controller-benchmarks/tree/main/research/2026-10-independent-comparator/METHODS.md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is useful computational work to do while the metadata requests are pending. The next task is an animal-level neural comparison with a separate frozen contract, followed by an audit of the independent cohort. The larger gap remains a matched late human measurement that connects identity, unusual states and recovery after withdrawal. Public data may still reduce that collection. The existing thirty-three-library feasibility proposal and fifty-seven-library full design remain conditional funding plans, not validated sample-size recommendations. No paid compute or wet-lab work was purchased or arranged in this pass.</a:t>
            </a:r>
          </a:p>
          <a:p xmlns:a="http://schemas.openxmlformats.org/drawingml/2006/main">
            <a:r>
              <a:t/>
            </a:r>
          </a:p>
          <a:p xmlns:a="http://schemas.openxmlformats.org/drawingml/2006/main">
            <a:r>
              <a:t>Sources:</a:t>
            </a:r>
          </a:p>
          <a:p xmlns:a="http://schemas.openxmlformats.org/drawingml/2006/main">
            <a:r>
              <a:t>https://github.com/SproutSeeds/retinal-longevity-controller-benchmarks/tree/main/research/2026-10-independent-comparator/NEXT_STEPS.md</a:t>
            </a:r>
          </a:p>
          <a:p xmlns:a="http://schemas.openxmlformats.org/drawingml/2006/main">
            <a:r>
              <a:t>https://github.com/SproutSeeds/retinal-longevity-controller-benchmarks/tree/main/research/2026-10-independent-comparator/CLAIM.md</a:t>
            </a:r>
          </a:p>
          <a:p xmlns:a="http://schemas.openxmlformats.org/drawingml/2006/main">
            <a:r>
              <a:t>https://github.com/SproutSeeds/retinal-longevity-controller-benchmarks/blob/main/research/2026-10-public-data/MEASUREMENT_PLAN.md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8e8d19fd48f4cb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745a9d90d04412d" /><Relationship Type="http://schemas.openxmlformats.org/officeDocument/2006/relationships/slideLayout" Target="/ppt/slideLayouts/slideLayout1.xml" Id="Re6718b520a94486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6718b520a94486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92e4000404e43d3" /><Relationship Type="http://schemas.openxmlformats.org/officeDocument/2006/relationships/notesSlide" Target="/ppt/notesSlides/notesSlide1.xml" Id="Rc1f68f81baf64a2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a67d0e596244239" /><Relationship Type="http://schemas.openxmlformats.org/officeDocument/2006/relationships/notesSlide" Target="/ppt/notesSlides/notesSlide2.xml" Id="R1a58968c69f94b7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094331444494465" /><Relationship Type="http://schemas.openxmlformats.org/officeDocument/2006/relationships/chart" Target="/ppt/slides/charts/chart1.xml" Id="Rd1c47ed9e7684db9" /><Relationship Type="http://schemas.openxmlformats.org/officeDocument/2006/relationships/notesSlide" Target="/ppt/notesSlides/notesSlide3.xml" Id="R0bfd95dd456f4d6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0bee854ed3c456c" /><Relationship Type="http://schemas.openxmlformats.org/officeDocument/2006/relationships/notesSlide" Target="/ppt/notesSlides/notesSlide4.xml" Id="Re4e31878e10b4ce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At least one donor</c:v>
          </c:tx>
          <c:spPr>
            <a:solidFill xmlns:a="http://schemas.openxmlformats.org/drawingml/2006/main">
              <a:srgbClr val="087F83"/>
            </a:solidFill>
          </c:spPr>
          <c:cat>
            <c:strRef>
              <c:f>'Chart Data'!$A$2:$A$5</c:f>
              <c:strCache>
                <c:ptCount val="4"/>
                <c:pt idx="0">
                  <c:v>3 balanced</c:v>
                </c:pt>
                <c:pt idx="1">
                  <c:v>3 imbalanced</c:v>
                </c:pt>
                <c:pt idx="2">
                  <c:v>6 balanced</c:v>
                </c:pt>
                <c:pt idx="3">
                  <c:v>6 imbalanced</c:v>
                </c:pt>
              </c:strCache>
            </c:strRef>
          </c:cat>
          <c:val>
            <c:numRef>
              <c:f>'Chart Data'!$B$2:$B$5</c:f>
              <c:numCache>
                <c:formatCode>0</c:formatCode>
                <c:ptCount val="4"/>
                <c:pt idx="0">
                  <c:v>80.974</c:v>
                </c:pt>
                <c:pt idx="1">
                  <c:v>74.272</c:v>
                </c:pt>
                <c:pt idx="2">
                  <c:v>92.488</c:v>
                </c:pt>
                <c:pt idx="3">
                  <c:v>81.297</c:v>
                </c:pt>
              </c:numCache>
            </c:numRef>
          </c:val>
        </c:ser>
        <c:ser>
          <c:idx val="1"/>
          <c:order val="1"/>
          <c:tx>
            <c:v>At least two donors</c:v>
          </c:tx>
          <c:spPr>
            <a:solidFill xmlns:a="http://schemas.openxmlformats.org/drawingml/2006/main">
              <a:srgbClr val="647B38"/>
            </a:solidFill>
          </c:spPr>
          <c:cat>
            <c:strRef>
              <c:f>'Chart Data'!$C$2:$C$5</c:f>
              <c:strCache>
                <c:ptCount val="4"/>
                <c:pt idx="0">
                  <c:v>3 balanced</c:v>
                </c:pt>
                <c:pt idx="1">
                  <c:v>3 imbalanced</c:v>
                </c:pt>
                <c:pt idx="2">
                  <c:v>6 balanced</c:v>
                </c:pt>
                <c:pt idx="3">
                  <c:v>6 imbalanced</c:v>
                </c:pt>
              </c:strCache>
            </c:strRef>
          </c:cat>
          <c:val>
            <c:numRef>
              <c:f>'Chart Data'!$D$2:$D$5</c:f>
              <c:numCache>
                <c:formatCode>0</c:formatCode>
                <c:ptCount val="4"/>
                <c:pt idx="0">
                  <c:v>38.812</c:v>
                </c:pt>
                <c:pt idx="1">
                  <c:v>27.807</c:v>
                </c:pt>
                <c:pt idx="2">
                  <c:v>68.171</c:v>
                </c:pt>
                <c:pt idx="3">
                  <c:v>41.847</c:v>
                </c:pt>
              </c:numCache>
            </c:numRef>
          </c:val>
        </c:ser>
        <c:dLbls>
          <c:txPr>
            <a:bodyPr xmlns:a="http://schemas.openxmlformats.org/drawingml/2006/main" anchorCtr="1"/>
            <a:lstStyle xmlns:a="http://schemas.openxmlformats.org/drawingml/2006/main"/>
            <a:p xmlns:a="http://schemas.openxmlformats.org/drawingml/2006/main">
              <a:pPr>
                <a:defRPr sz="1425">
                  <a:solidFill>
                    <a:srgbClr val="142E3A"/>
                  </a:solidFill>
                  <a:latin typeface="Liberation Sans"/>
                  <a:ea typeface="Liberation Sans"/>
                  <a:cs typeface="Liberation Sans"/>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671"/>
                </a:solidFill>
                <a:latin typeface="Liberation Sans"/>
                <a:ea typeface="Liberation Sans"/>
                <a:cs typeface="Liberation Sans"/>
              </a:defRPr>
            </a:pPr>
          </a:p>
        </c:txPr>
        <c:crossAx val="48672768"/>
      </c:catAx>
      <c:valAx>
        <c:axId val="48672768"/>
        <c:scaling>
          <c:orientation val="minMax"/>
          <c:max val="100"/>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671"/>
                </a:solidFill>
                <a:latin typeface="Liberation Sans"/>
                <a:ea typeface="Liberation Sans"/>
                <a:cs typeface="Liberation Sans"/>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Liberation Sans"/>
              <a:ea typeface="Liberation Sans"/>
              <a:cs typeface="Liberation Sans"/>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8F9FFF7-89BE-446D-81C4-A5187CB47F7F}"/>
              </a:ext>
            </a:extLst>
          </p:cNvPr>
          <p:cNvSpPr>
            <a:spLocks xmlns:a="http://schemas.openxmlformats.org/drawingml/2006/main" noGrp="1"/>
          </p:cNvSpPr>
          <p:nvPr/>
        </p:nvSpPr>
        <p:spPr>
          <a:xfrm xmlns:a="http://schemas.openxmlformats.org/drawingml/2006/main">
            <a:off x="609600" y="514350"/>
            <a:ext cx="109728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42E3A"/>
                </a:solidFill>
                <a:latin typeface="Liberation Sans"/>
                <a:ea typeface="Liberation Sans"/>
                <a:cs typeface="Liberation Sans"/>
              </a:defRPr>
            </a:pPr>
            <a:r>
              <a:rPr sz="3150" b="1">
                <a:solidFill>
                  <a:srgbClr val="142E3A"/>
                </a:solidFill>
                <a:latin typeface="Liberation Sans"/>
                <a:ea typeface="Liberation Sans"/>
                <a:cs typeface="Liberation Sans"/>
              </a:rPr>
              <a:t>Human expression changes depend on the endpoint</a:t>
            </a:r>
          </a:p>
        </p:txBody>
      </p:sp>
      <p:sp>
        <p:nvSpPr>
          <p:cNvPr id="2" name="">
            <a:extLst xmlns:a="http://schemas.openxmlformats.org/drawingml/2006/main">
              <a:ext uri="{FF2B5EF4-FFF2-40B4-BE49-F238E27FC236}">
                <a16:creationId xmlns:a16="http://schemas.microsoft.com/office/drawing/2014/main" id="{3E27C7BA-EFB4-4006-8505-AB44AA73DA48}"/>
              </a:ext>
            </a:extLst>
          </p:cNvPr>
          <p:cNvSpPr>
            <a:spLocks xmlns:a="http://schemas.openxmlformats.org/drawingml/2006/main" noGrp="1"/>
          </p:cNvSpPr>
          <p:nvPr/>
        </p:nvSpPr>
        <p:spPr>
          <a:xfrm xmlns:a="http://schemas.openxmlformats.org/drawingml/2006/main">
            <a:off x="609600" y="6229350"/>
            <a:ext cx="10972800" cy="9525"/>
          </a:xfrm>
          <a:prstGeom xmlns:a="http://schemas.openxmlformats.org/drawingml/2006/main" prst="rect">
            <a:avLst/>
          </a:prstGeom>
          <a:solidFill xmlns:a="http://schemas.openxmlformats.org/drawingml/2006/main">
            <a:srgbClr val="CFDDD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651DD32-A7CC-4F57-BB2B-3798FF8734FD}"/>
              </a:ext>
            </a:extLst>
          </p:cNvPr>
          <p:cNvSpPr>
            <a:spLocks xmlns:a="http://schemas.openxmlformats.org/drawingml/2006/main" noGrp="1"/>
          </p:cNvSpPr>
          <p:nvPr/>
        </p:nvSpPr>
        <p:spPr>
          <a:xfrm xmlns:a="http://schemas.openxmlformats.org/drawingml/2006/main">
            <a:off x="609600" y="6381750"/>
            <a:ext cx="10287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671"/>
                </a:solidFill>
                <a:latin typeface="Liberation Sans"/>
                <a:ea typeface="Liberation Sans"/>
                <a:cs typeface="Liberation Sans"/>
              </a:defRPr>
            </a:pPr>
            <a:r>
              <a:rPr sz="1125" b="0">
                <a:solidFill>
                  <a:srgbClr val="536671"/>
                </a:solidFill>
                <a:latin typeface="Liberation Sans"/>
                <a:ea typeface="Liberation Sans"/>
                <a:cs typeface="Liberation Sans"/>
              </a:rPr>
              <a:t>Cody Mitchell / FRG · October 18, 2026 · Public-data analysis</a:t>
            </a:r>
          </a:p>
        </p:txBody>
      </p:sp>
      <p:sp>
        <p:nvSpPr>
          <p:cNvPr id="4" name="">
            <a:extLst xmlns:a="http://schemas.openxmlformats.org/drawingml/2006/main">
              <a:ext uri="{FF2B5EF4-FFF2-40B4-BE49-F238E27FC236}">
                <a16:creationId xmlns:a16="http://schemas.microsoft.com/office/drawing/2014/main" id="{C284D487-9F11-4528-97A2-B205B42F4205}"/>
              </a:ext>
            </a:extLst>
          </p:cNvPr>
          <p:cNvSpPr>
            <a:spLocks xmlns:a="http://schemas.openxmlformats.org/drawingml/2006/main" noGrp="1"/>
          </p:cNvSpPr>
          <p:nvPr/>
        </p:nvSpPr>
        <p:spPr>
          <a:xfrm xmlns:a="http://schemas.openxmlformats.org/drawingml/2006/main">
            <a:off x="11182350" y="63531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83"/>
                </a:solidFill>
                <a:latin typeface="Liberation Sans"/>
                <a:ea typeface="Liberation Sans"/>
                <a:cs typeface="Liberation Sans"/>
              </a:defRPr>
            </a:pPr>
            <a:r>
              <a:rPr sz="1350" b="1">
                <a:solidFill>
                  <a:srgbClr val="087F83"/>
                </a:solidFill>
                <a:latin typeface="Liberation Sans"/>
                <a:ea typeface="Liberation Sans"/>
                <a:cs typeface="Liberation Sans"/>
              </a:rPr>
              <a:t>1</a:t>
            </a:r>
          </a:p>
        </p:txBody>
      </p:sp>
      <p:sp>
        <p:nvSpPr>
          <p:cNvPr id="5" name="">
            <a:extLst xmlns:a="http://schemas.openxmlformats.org/drawingml/2006/main">
              <a:ext uri="{FF2B5EF4-FFF2-40B4-BE49-F238E27FC236}">
                <a16:creationId xmlns:a16="http://schemas.microsoft.com/office/drawing/2014/main" id="{921D8C21-4EED-4DAD-AE31-3A9CDE8DE562}"/>
              </a:ext>
            </a:extLst>
          </p:cNvPr>
          <p:cNvSpPr>
            <a:spLocks xmlns:a="http://schemas.openxmlformats.org/drawingml/2006/main" noGrp="1"/>
          </p:cNvSpPr>
          <p:nvPr/>
        </p:nvSpPr>
        <p:spPr>
          <a:xfrm xmlns:a="http://schemas.openxmlformats.org/drawingml/2006/main">
            <a:off x="609600" y="16287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671"/>
                </a:solidFill>
                <a:latin typeface="Liberation Sans"/>
                <a:ea typeface="Liberation Sans"/>
                <a:cs typeface="Liberation Sans"/>
              </a:defRPr>
            </a:pPr>
            <a:r>
              <a:rPr sz="1875" b="0">
                <a:solidFill>
                  <a:srgbClr val="536671"/>
                </a:solidFill>
                <a:latin typeface="Liberation Sans"/>
                <a:ea typeface="Liberation Sans"/>
                <a:cs typeface="Liberation Sans"/>
              </a:rPr>
              <a:t>Eight libraries from one donor · four-day treatment comparison</a:t>
            </a:r>
          </a:p>
        </p:txBody>
      </p:sp>
      <p:graphicFrame>
        <p:nvGraphicFramePr>
          <p:cNvPr id="14" name=""/>
          <p:cNvGraphicFramePr/>
          <p:nvPr/>
        </p:nvGraphicFramePr>
        <p:xfrm>
          <a:off xmlns:a="http://schemas.openxmlformats.org/drawingml/2006/main" x="609600" y="2162175"/>
          <a:ext xmlns:a="http://schemas.openxmlformats.org/drawingml/2006/main" cx="10972800" cy="2905125"/>
        </p:xfrm>
        <a:graphic xmlns:a="http://schemas.openxmlformats.org/drawingml/2006/main">
          <a:graphicData uri="http://schemas.openxmlformats.org/drawingml/2006/table">
            <a:tbl>
              <a:tblPr/>
              <a:tblGrid>
                <a:gridCol w="3429000"/>
                <a:gridCol w="1714500"/>
                <a:gridCol w="2057400"/>
                <a:gridCol w="1714500"/>
                <a:gridCol w="2057400"/>
              </a:tblGrid>
              <a:tr h="581025">
                <a:tc>
                  <a:txBody>
                    <a:bodyPr/>
                    <a:lstStyle/>
                    <a:p>
                      <a:r>
                        <a:rPr sz="1725" b="1">
                          <a:solidFill>
                            <a:srgbClr val="FFFFFF"/>
                          </a:solidFill>
                          <a:latin typeface="Liberation Sans"/>
                          <a:ea typeface="Liberation Sans"/>
                          <a:cs typeface="Liberation Sans"/>
                        </a:rPr>
                        <a:t>Panel</a:t>
                      </a:r>
                    </a:p>
                  </a:txBody>
                  <a:tcPr marL="91440" marR="91440" marT="45720" marB="45720">
                    <a:solidFill>
                      <a:srgbClr val="087F83"/>
                    </a:solidFill>
                  </a:tcPr>
                </a:tc>
                <a:tc>
                  <a:txBody>
                    <a:bodyPr/>
                    <a:lstStyle/>
                    <a:p>
                      <a:r>
                        <a:rPr sz="1725" b="1">
                          <a:solidFill>
                            <a:srgbClr val="FFFFFF"/>
                          </a:solidFill>
                          <a:latin typeface="Liberation Sans"/>
                          <a:ea typeface="Liberation Sans"/>
                          <a:cs typeface="Liberation Sans"/>
                        </a:rPr>
                        <a:t>OSK</a:t>
                      </a:r>
                    </a:p>
                    <a:p>
                      <a:r>
                        <a:rPr sz="1725" b="1">
                          <a:solidFill>
                            <a:srgbClr val="FFFFFF"/>
                          </a:solidFill>
                          <a:latin typeface="Liberation Sans"/>
                          <a:ea typeface="Liberation Sans"/>
                          <a:cs typeface="Liberation Sans"/>
                        </a:rPr>
                        <a:t>CPM</a:t>
                      </a:r>
                    </a:p>
                  </a:txBody>
                  <a:tcPr marL="91440" marR="91440" marT="45720" marB="45720">
                    <a:solidFill>
                      <a:srgbClr val="087F83"/>
                    </a:solidFill>
                  </a:tcPr>
                </a:tc>
                <a:tc>
                  <a:txBody>
                    <a:bodyPr/>
                    <a:lstStyle/>
                    <a:p>
                      <a:r>
                        <a:rPr sz="1725" b="1">
                          <a:solidFill>
                            <a:srgbClr val="FFFFFF"/>
                          </a:solidFill>
                          <a:latin typeface="Liberation Sans"/>
                          <a:ea typeface="Liberation Sans"/>
                          <a:cs typeface="Liberation Sans"/>
                        </a:rPr>
                        <a:t>OSK</a:t>
                      </a:r>
                    </a:p>
                    <a:p>
                      <a:r>
                        <a:rPr sz="1725" b="1">
                          <a:solidFill>
                            <a:srgbClr val="FFFFFF"/>
                          </a:solidFill>
                          <a:latin typeface="Liberation Sans"/>
                          <a:ea typeface="Liberation Sans"/>
                          <a:cs typeface="Liberation Sans"/>
                        </a:rPr>
                        <a:t>median ratio</a:t>
                      </a:r>
                    </a:p>
                  </a:txBody>
                  <a:tcPr marL="91440" marR="91440" marT="45720" marB="45720">
                    <a:solidFill>
                      <a:srgbClr val="087F83"/>
                    </a:solidFill>
                  </a:tcPr>
                </a:tc>
                <a:tc>
                  <a:txBody>
                    <a:bodyPr/>
                    <a:lstStyle/>
                    <a:p>
                      <a:r>
                        <a:rPr sz="1725" b="1">
                          <a:solidFill>
                            <a:srgbClr val="FFFFFF"/>
                          </a:solidFill>
                          <a:latin typeface="Liberation Sans"/>
                          <a:ea typeface="Liberation Sans"/>
                          <a:cs typeface="Liberation Sans"/>
                        </a:rPr>
                        <a:t>O4YRSK</a:t>
                      </a:r>
                    </a:p>
                    <a:p>
                      <a:r>
                        <a:rPr sz="1725" b="1">
                          <a:solidFill>
                            <a:srgbClr val="FFFFFF"/>
                          </a:solidFill>
                          <a:latin typeface="Liberation Sans"/>
                          <a:ea typeface="Liberation Sans"/>
                          <a:cs typeface="Liberation Sans"/>
                        </a:rPr>
                        <a:t>CPM</a:t>
                      </a:r>
                    </a:p>
                  </a:txBody>
                  <a:tcPr marL="91440" marR="91440" marT="45720" marB="45720">
                    <a:solidFill>
                      <a:srgbClr val="087F83"/>
                    </a:solidFill>
                  </a:tcPr>
                </a:tc>
                <a:tc>
                  <a:txBody>
                    <a:bodyPr/>
                    <a:lstStyle/>
                    <a:p>
                      <a:r>
                        <a:rPr sz="1725" b="1">
                          <a:solidFill>
                            <a:srgbClr val="FFFFFF"/>
                          </a:solidFill>
                          <a:latin typeface="Liberation Sans"/>
                          <a:ea typeface="Liberation Sans"/>
                          <a:cs typeface="Liberation Sans"/>
                        </a:rPr>
                        <a:t>O4YRSK</a:t>
                      </a:r>
                    </a:p>
                    <a:p>
                      <a:r>
                        <a:rPr sz="1725" b="1">
                          <a:solidFill>
                            <a:srgbClr val="FFFFFF"/>
                          </a:solidFill>
                          <a:latin typeface="Liberation Sans"/>
                          <a:ea typeface="Liberation Sans"/>
                          <a:cs typeface="Liberation Sans"/>
                        </a:rPr>
                        <a:t>median ratio</a:t>
                      </a:r>
                    </a:p>
                  </a:txBody>
                  <a:tcPr marL="91440" marR="91440" marT="45720" marB="45720">
                    <a:solidFill>
                      <a:srgbClr val="087F83"/>
                    </a:solidFill>
                  </a:tcPr>
                </a:tc>
              </a:tr>
              <a:tr h="581025">
                <a:tc>
                  <a:txBody>
                    <a:bodyPr/>
                    <a:lstStyle/>
                    <a:p>
                      <a:r>
                        <a:rPr sz="1875" b="0">
                          <a:solidFill>
                            <a:srgbClr val="142E3A"/>
                          </a:solidFill>
                          <a:latin typeface="Liberation Sans"/>
                          <a:ea typeface="Liberation Sans"/>
                          <a:cs typeface="Liberation Sans"/>
                        </a:rPr>
                        <a:t>Fibroblast markers</a:t>
                      </a:r>
                    </a:p>
                  </a:txBody>
                  <a:tcPr marL="91440" marR="91440" marT="45720" marB="45720">
                    <a:solidFill>
                      <a:srgbClr val="EAF3F3"/>
                    </a:solidFill>
                  </a:tcPr>
                </a:tc>
                <a:tc>
                  <a:txBody>
                    <a:bodyPr/>
                    <a:lstStyle/>
                    <a:p>
                      <a:r>
                        <a:rPr sz="1875" b="0">
                          <a:solidFill>
                            <a:srgbClr val="142E3A"/>
                          </a:solidFill>
                          <a:latin typeface="Liberation Sans"/>
                          <a:ea typeface="Liberation Sans"/>
                          <a:cs typeface="Liberation Sans"/>
                        </a:rPr>
                        <a:t>-1.508</a:t>
                      </a:r>
                    </a:p>
                  </a:txBody>
                  <a:tcPr marL="91440" marR="91440" marT="45720" marB="45720">
                    <a:solidFill>
                      <a:srgbClr val="EAF3F3"/>
                    </a:solidFill>
                  </a:tcPr>
                </a:tc>
                <a:tc>
                  <a:txBody>
                    <a:bodyPr/>
                    <a:lstStyle/>
                    <a:p>
                      <a:r>
                        <a:rPr sz="1875" b="0">
                          <a:solidFill>
                            <a:srgbClr val="142E3A"/>
                          </a:solidFill>
                          <a:latin typeface="Liberation Sans"/>
                          <a:ea typeface="Liberation Sans"/>
                          <a:cs typeface="Liberation Sans"/>
                        </a:rPr>
                        <a:t>-1.940</a:t>
                      </a:r>
                    </a:p>
                  </a:txBody>
                  <a:tcPr marL="91440" marR="91440" marT="45720" marB="45720">
                    <a:solidFill>
                      <a:srgbClr val="EAF3F3"/>
                    </a:solidFill>
                  </a:tcPr>
                </a:tc>
                <a:tc>
                  <a:txBody>
                    <a:bodyPr/>
                    <a:lstStyle/>
                    <a:p>
                      <a:r>
                        <a:rPr sz="1875" b="0">
                          <a:solidFill>
                            <a:srgbClr val="142E3A"/>
                          </a:solidFill>
                          <a:latin typeface="Liberation Sans"/>
                          <a:ea typeface="Liberation Sans"/>
                          <a:cs typeface="Liberation Sans"/>
                        </a:rPr>
                        <a:t>-1.500</a:t>
                      </a:r>
                    </a:p>
                  </a:txBody>
                  <a:tcPr marL="91440" marR="91440" marT="45720" marB="45720">
                    <a:solidFill>
                      <a:srgbClr val="EAF3F3"/>
                    </a:solidFill>
                  </a:tcPr>
                </a:tc>
                <a:tc>
                  <a:txBody>
                    <a:bodyPr/>
                    <a:lstStyle/>
                    <a:p>
                      <a:r>
                        <a:rPr sz="1875" b="0">
                          <a:solidFill>
                            <a:srgbClr val="142E3A"/>
                          </a:solidFill>
                          <a:latin typeface="Liberation Sans"/>
                          <a:ea typeface="Liberation Sans"/>
                          <a:cs typeface="Liberation Sans"/>
                        </a:rPr>
                        <a:t>-1.851</a:t>
                      </a:r>
                    </a:p>
                  </a:txBody>
                  <a:tcPr marL="91440" marR="91440" marT="45720" marB="45720">
                    <a:solidFill>
                      <a:srgbClr val="EAF3F3"/>
                    </a:solidFill>
                  </a:tcPr>
                </a:tc>
              </a:tr>
              <a:tr h="581025">
                <a:tc>
                  <a:txBody>
                    <a:bodyPr/>
                    <a:lstStyle/>
                    <a:p>
                      <a:r>
                        <a:rPr sz="1875" b="0">
                          <a:solidFill>
                            <a:srgbClr val="142E3A"/>
                          </a:solidFill>
                          <a:latin typeface="Liberation Sans"/>
                          <a:ea typeface="Liberation Sans"/>
                          <a:cs typeface="Liberation Sans"/>
                        </a:rPr>
                        <a:t>Cell cycle</a:t>
                      </a:r>
                    </a:p>
                  </a:txBody>
                  <a:tcPr marL="91440" marR="91440" marT="45720" marB="45720">
                    <a:solidFill>
                      <a:srgbClr val="FFFFFF"/>
                    </a:solidFill>
                  </a:tcPr>
                </a:tc>
                <a:tc>
                  <a:txBody>
                    <a:bodyPr/>
                    <a:lstStyle/>
                    <a:p>
                      <a:r>
                        <a:rPr sz="1875" b="0">
                          <a:solidFill>
                            <a:srgbClr val="142E3A"/>
                          </a:solidFill>
                          <a:latin typeface="Liberation Sans"/>
                          <a:ea typeface="Liberation Sans"/>
                          <a:cs typeface="Liberation Sans"/>
                        </a:rPr>
                        <a:t>+1.064</a:t>
                      </a:r>
                    </a:p>
                  </a:txBody>
                  <a:tcPr marL="91440" marR="91440" marT="45720" marB="45720">
                    <a:solidFill>
                      <a:srgbClr val="FFFFFF"/>
                    </a:solidFill>
                  </a:tcPr>
                </a:tc>
                <a:tc>
                  <a:txBody>
                    <a:bodyPr/>
                    <a:lstStyle/>
                    <a:p>
                      <a:r>
                        <a:rPr sz="1875" b="0">
                          <a:solidFill>
                            <a:srgbClr val="142E3A"/>
                          </a:solidFill>
                          <a:latin typeface="Liberation Sans"/>
                          <a:ea typeface="Liberation Sans"/>
                          <a:cs typeface="Liberation Sans"/>
                        </a:rPr>
                        <a:t>+0.656</a:t>
                      </a:r>
                    </a:p>
                  </a:txBody>
                  <a:tcPr marL="91440" marR="91440" marT="45720" marB="45720">
                    <a:solidFill>
                      <a:srgbClr val="FFFFFF"/>
                    </a:solidFill>
                  </a:tcPr>
                </a:tc>
                <a:tc>
                  <a:txBody>
                    <a:bodyPr/>
                    <a:lstStyle/>
                    <a:p>
                      <a:r>
                        <a:rPr sz="1875" b="0">
                          <a:solidFill>
                            <a:srgbClr val="142E3A"/>
                          </a:solidFill>
                          <a:latin typeface="Liberation Sans"/>
                          <a:ea typeface="Liberation Sans"/>
                          <a:cs typeface="Liberation Sans"/>
                        </a:rPr>
                        <a:t>+0.564</a:t>
                      </a:r>
                    </a:p>
                  </a:txBody>
                  <a:tcPr marL="91440" marR="91440" marT="45720" marB="45720">
                    <a:solidFill>
                      <a:srgbClr val="FFFFFF"/>
                    </a:solidFill>
                  </a:tcPr>
                </a:tc>
                <a:tc>
                  <a:txBody>
                    <a:bodyPr/>
                    <a:lstStyle/>
                    <a:p>
                      <a:r>
                        <a:rPr sz="1875" b="0">
                          <a:solidFill>
                            <a:srgbClr val="142E3A"/>
                          </a:solidFill>
                          <a:latin typeface="Liberation Sans"/>
                          <a:ea typeface="Liberation Sans"/>
                          <a:cs typeface="Liberation Sans"/>
                        </a:rPr>
                        <a:t>+0.226</a:t>
                      </a:r>
                    </a:p>
                  </a:txBody>
                  <a:tcPr marL="91440" marR="91440" marT="45720" marB="45720">
                    <a:solidFill>
                      <a:srgbClr val="FFFFFF"/>
                    </a:solidFill>
                  </a:tcPr>
                </a:tc>
              </a:tr>
              <a:tr h="581025">
                <a:tc>
                  <a:txBody>
                    <a:bodyPr/>
                    <a:lstStyle/>
                    <a:p>
                      <a:r>
                        <a:rPr sz="1875" b="0">
                          <a:solidFill>
                            <a:srgbClr val="142E3A"/>
                          </a:solidFill>
                          <a:latin typeface="Liberation Sans"/>
                          <a:ea typeface="Liberation Sans"/>
                          <a:cs typeface="Liberation Sans"/>
                        </a:rPr>
                        <a:t>Stress</a:t>
                      </a:r>
                    </a:p>
                  </a:txBody>
                  <a:tcPr marL="91440" marR="91440" marT="45720" marB="45720">
                    <a:solidFill>
                      <a:srgbClr val="EAF3F3"/>
                    </a:solidFill>
                  </a:tcPr>
                </a:tc>
                <a:tc>
                  <a:txBody>
                    <a:bodyPr/>
                    <a:lstStyle/>
                    <a:p>
                      <a:r>
                        <a:rPr sz="1875" b="0">
                          <a:solidFill>
                            <a:srgbClr val="142E3A"/>
                          </a:solidFill>
                          <a:latin typeface="Liberation Sans"/>
                          <a:ea typeface="Liberation Sans"/>
                          <a:cs typeface="Liberation Sans"/>
                        </a:rPr>
                        <a:t>+0.258</a:t>
                      </a:r>
                    </a:p>
                  </a:txBody>
                  <a:tcPr marL="91440" marR="91440" marT="45720" marB="45720">
                    <a:solidFill>
                      <a:srgbClr val="EAF3F3"/>
                    </a:solidFill>
                  </a:tcPr>
                </a:tc>
                <a:tc>
                  <a:txBody>
                    <a:bodyPr/>
                    <a:lstStyle/>
                    <a:p>
                      <a:r>
                        <a:rPr sz="1875" b="0">
                          <a:solidFill>
                            <a:srgbClr val="142E3A"/>
                          </a:solidFill>
                          <a:latin typeface="Liberation Sans"/>
                          <a:ea typeface="Liberation Sans"/>
                          <a:cs typeface="Liberation Sans"/>
                        </a:rPr>
                        <a:t>-0.113</a:t>
                      </a:r>
                    </a:p>
                  </a:txBody>
                  <a:tcPr marL="91440" marR="91440" marT="45720" marB="45720">
                    <a:solidFill>
                      <a:srgbClr val="EAF3F3"/>
                    </a:solidFill>
                  </a:tcPr>
                </a:tc>
                <a:tc>
                  <a:txBody>
                    <a:bodyPr/>
                    <a:lstStyle/>
                    <a:p>
                      <a:r>
                        <a:rPr sz="1875" b="0">
                          <a:solidFill>
                            <a:srgbClr val="142E3A"/>
                          </a:solidFill>
                          <a:latin typeface="Liberation Sans"/>
                          <a:ea typeface="Liberation Sans"/>
                          <a:cs typeface="Liberation Sans"/>
                        </a:rPr>
                        <a:t>+0.561</a:t>
                      </a:r>
                    </a:p>
                  </a:txBody>
                  <a:tcPr marL="91440" marR="91440" marT="45720" marB="45720">
                    <a:solidFill>
                      <a:srgbClr val="EAF3F3"/>
                    </a:solidFill>
                  </a:tcPr>
                </a:tc>
                <a:tc>
                  <a:txBody>
                    <a:bodyPr/>
                    <a:lstStyle/>
                    <a:p>
                      <a:r>
                        <a:rPr sz="1875" b="0">
                          <a:solidFill>
                            <a:srgbClr val="142E3A"/>
                          </a:solidFill>
                          <a:latin typeface="Liberation Sans"/>
                          <a:ea typeface="Liberation Sans"/>
                          <a:cs typeface="Liberation Sans"/>
                        </a:rPr>
                        <a:t>+0.274</a:t>
                      </a:r>
                    </a:p>
                  </a:txBody>
                  <a:tcPr marL="91440" marR="91440" marT="45720" marB="45720">
                    <a:solidFill>
                      <a:srgbClr val="EAF3F3"/>
                    </a:solidFill>
                  </a:tcPr>
                </a:tc>
              </a:tr>
              <a:tr h="581025">
                <a:tc>
                  <a:txBody>
                    <a:bodyPr/>
                    <a:lstStyle/>
                    <a:p>
                      <a:r>
                        <a:rPr sz="1875" b="0">
                          <a:solidFill>
                            <a:srgbClr val="142E3A"/>
                          </a:solidFill>
                          <a:latin typeface="Liberation Sans"/>
                          <a:ea typeface="Liberation Sans"/>
                          <a:cs typeface="Liberation Sans"/>
                        </a:rPr>
                        <a:t>Reprogramming*</a:t>
                      </a:r>
                    </a:p>
                  </a:txBody>
                  <a:tcPr marL="91440" marR="91440" marT="45720" marB="45720">
                    <a:solidFill>
                      <a:srgbClr val="FFFFFF"/>
                    </a:solidFill>
                  </a:tcPr>
                </a:tc>
                <a:tc>
                  <a:txBody>
                    <a:bodyPr/>
                    <a:lstStyle/>
                    <a:p>
                      <a:r>
                        <a:rPr sz="1875" b="0">
                          <a:solidFill>
                            <a:srgbClr val="142E3A"/>
                          </a:solidFill>
                          <a:latin typeface="Liberation Sans"/>
                          <a:ea typeface="Liberation Sans"/>
                          <a:cs typeface="Liberation Sans"/>
                        </a:rPr>
                        <a:t>+0.628</a:t>
                      </a:r>
                    </a:p>
                  </a:txBody>
                  <a:tcPr marL="91440" marR="91440" marT="45720" marB="45720">
                    <a:solidFill>
                      <a:srgbClr val="FFFFFF"/>
                    </a:solidFill>
                  </a:tcPr>
                </a:tc>
                <a:tc>
                  <a:txBody>
                    <a:bodyPr/>
                    <a:lstStyle/>
                    <a:p>
                      <a:r>
                        <a:rPr sz="1875" b="0">
                          <a:solidFill>
                            <a:srgbClr val="142E3A"/>
                          </a:solidFill>
                          <a:latin typeface="Liberation Sans"/>
                          <a:ea typeface="Liberation Sans"/>
                          <a:cs typeface="Liberation Sans"/>
                        </a:rPr>
                        <a:t>+0.527</a:t>
                      </a:r>
                    </a:p>
                  </a:txBody>
                  <a:tcPr marL="91440" marR="91440" marT="45720" marB="45720">
                    <a:solidFill>
                      <a:srgbClr val="FFFFFF"/>
                    </a:solidFill>
                  </a:tcPr>
                </a:tc>
                <a:tc>
                  <a:txBody>
                    <a:bodyPr/>
                    <a:lstStyle/>
                    <a:p>
                      <a:r>
                        <a:rPr sz="1875" b="0">
                          <a:solidFill>
                            <a:srgbClr val="142E3A"/>
                          </a:solidFill>
                          <a:latin typeface="Liberation Sans"/>
                          <a:ea typeface="Liberation Sans"/>
                          <a:cs typeface="Liberation Sans"/>
                        </a:rPr>
                        <a:t>+0.427</a:t>
                      </a:r>
                    </a:p>
                  </a:txBody>
                  <a:tcPr marL="91440" marR="91440" marT="45720" marB="45720">
                    <a:solidFill>
                      <a:srgbClr val="FFFFFF"/>
                    </a:solidFill>
                  </a:tcPr>
                </a:tc>
                <a:tc>
                  <a:txBody>
                    <a:bodyPr/>
                    <a:lstStyle/>
                    <a:p>
                      <a:r>
                        <a:rPr sz="1875" b="0">
                          <a:solidFill>
                            <a:srgbClr val="142E3A"/>
                          </a:solidFill>
                          <a:latin typeface="Liberation Sans"/>
                          <a:ea typeface="Liberation Sans"/>
                          <a:cs typeface="Liberation Sans"/>
                        </a:rPr>
                        <a:t>+0.354</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298D981D-1F19-4D90-B8D0-0E76AFBE9F40}"/>
              </a:ext>
            </a:extLst>
          </p:cNvPr>
          <p:cNvSpPr>
            <a:spLocks xmlns:a="http://schemas.openxmlformats.org/drawingml/2006/main" noGrp="1"/>
          </p:cNvSpPr>
          <p:nvPr/>
        </p:nvSpPr>
        <p:spPr>
          <a:xfrm xmlns:a="http://schemas.openxmlformats.org/drawingml/2006/main">
            <a:off x="609600" y="5267325"/>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9B5D22"/>
                </a:solidFill>
                <a:latin typeface="Liberation Sans"/>
                <a:ea typeface="Liberation Sans"/>
                <a:cs typeface="Liberation Sans"/>
              </a:defRPr>
            </a:pPr>
            <a:r>
              <a:rPr sz="2025" b="1">
                <a:solidFill>
                  <a:srgbClr val="9B5D22"/>
                </a:solidFill>
                <a:latin typeface="Liberation Sans"/>
                <a:ea typeface="Liberation Sans"/>
                <a:cs typeface="Liberation Sans"/>
              </a:rPr>
              <a:t>OSK stress reverses direction under the normalization sensitivity.</a:t>
            </a:r>
          </a:p>
        </p:txBody>
      </p:sp>
      <p:sp>
        <p:nvSpPr>
          <p:cNvPr id="8" name="">
            <a:extLst xmlns:a="http://schemas.openxmlformats.org/drawingml/2006/main">
              <a:ext uri="{FF2B5EF4-FFF2-40B4-BE49-F238E27FC236}">
                <a16:creationId xmlns:a16="http://schemas.microsoft.com/office/drawing/2014/main" id="{2FDFEF12-3088-41FD-9BAF-E76A8542BD6F}"/>
              </a:ext>
            </a:extLst>
          </p:cNvPr>
          <p:cNvSpPr>
            <a:spLocks xmlns:a="http://schemas.openxmlformats.org/drawingml/2006/main" noGrp="1"/>
          </p:cNvSpPr>
          <p:nvPr/>
        </p:nvSpPr>
        <p:spPr>
          <a:xfrm xmlns:a="http://schemas.openxmlformats.org/drawingml/2006/main">
            <a:off x="609600" y="5762625"/>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36671"/>
                </a:solidFill>
                <a:latin typeface="Liberation Sans"/>
                <a:ea typeface="Liberation Sans"/>
                <a:cs typeface="Liberation Sans"/>
              </a:defRPr>
            </a:pPr>
            <a:r>
              <a:rPr sz="1575" b="0">
                <a:solidFill>
                  <a:srgbClr val="536671"/>
                </a:solidFill>
                <a:latin typeface="Liberation Sans"/>
                <a:ea typeface="Liberation Sans"/>
                <a:cs typeface="Liberation Sans"/>
              </a:rPr>
              <a:t>Mean log-expression differences. *POU5F1 and SOX2 excluded. No young or recovery arm.</a:t>
            </a:r>
          </a:p>
        </p:txBody>
      </p:sp>
    </p:spTree>
    <p:extLst>
      <p:ext uri="{BB962C8B-B14F-4D97-AF65-F5344CB8AC3E}">
        <p14:creationId xmlns:p14="http://schemas.microsoft.com/office/powerpoint/2010/main" val="23106785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E4254F3-E82A-4F31-AF64-8A638488E12B}"/>
              </a:ext>
            </a:extLst>
          </p:cNvPr>
          <p:cNvSpPr>
            <a:spLocks xmlns:a="http://schemas.openxmlformats.org/drawingml/2006/main" noGrp="1"/>
          </p:cNvSpPr>
          <p:nvPr/>
        </p:nvSpPr>
        <p:spPr>
          <a:xfrm xmlns:a="http://schemas.openxmlformats.org/drawingml/2006/main">
            <a:off x="609600" y="514350"/>
            <a:ext cx="109728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42E3A"/>
                </a:solidFill>
                <a:latin typeface="Liberation Sans"/>
                <a:ea typeface="Liberation Sans"/>
                <a:cs typeface="Liberation Sans"/>
              </a:defRPr>
            </a:pPr>
            <a:r>
              <a:rPr sz="3150" b="1">
                <a:solidFill>
                  <a:srgbClr val="142E3A"/>
                </a:solidFill>
                <a:latin typeface="Liberation Sans"/>
                <a:ea typeface="Liberation Sans"/>
                <a:cs typeface="Liberation Sans"/>
              </a:rPr>
              <a:t>A mouse neural dataset retains seven animal identities</a:t>
            </a:r>
          </a:p>
        </p:txBody>
      </p:sp>
      <p:sp>
        <p:nvSpPr>
          <p:cNvPr id="2" name="">
            <a:extLst xmlns:a="http://schemas.openxmlformats.org/drawingml/2006/main">
              <a:ext uri="{FF2B5EF4-FFF2-40B4-BE49-F238E27FC236}">
                <a16:creationId xmlns:a16="http://schemas.microsoft.com/office/drawing/2014/main" id="{105104DE-5DDE-46D5-B155-9D814CDFBCC0}"/>
              </a:ext>
            </a:extLst>
          </p:cNvPr>
          <p:cNvSpPr>
            <a:spLocks xmlns:a="http://schemas.openxmlformats.org/drawingml/2006/main" noGrp="1"/>
          </p:cNvSpPr>
          <p:nvPr/>
        </p:nvSpPr>
        <p:spPr>
          <a:xfrm xmlns:a="http://schemas.openxmlformats.org/drawingml/2006/main">
            <a:off x="609600" y="6229350"/>
            <a:ext cx="10972800" cy="9525"/>
          </a:xfrm>
          <a:prstGeom xmlns:a="http://schemas.openxmlformats.org/drawingml/2006/main" prst="rect">
            <a:avLst/>
          </a:prstGeom>
          <a:solidFill xmlns:a="http://schemas.openxmlformats.org/drawingml/2006/main">
            <a:srgbClr val="CFDDD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A86AFE4-8336-4135-9D14-CF022FECD79A}"/>
              </a:ext>
            </a:extLst>
          </p:cNvPr>
          <p:cNvSpPr>
            <a:spLocks xmlns:a="http://schemas.openxmlformats.org/drawingml/2006/main" noGrp="1"/>
          </p:cNvSpPr>
          <p:nvPr/>
        </p:nvSpPr>
        <p:spPr>
          <a:xfrm xmlns:a="http://schemas.openxmlformats.org/drawingml/2006/main">
            <a:off x="609600" y="6381750"/>
            <a:ext cx="10287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671"/>
                </a:solidFill>
                <a:latin typeface="Liberation Sans"/>
                <a:ea typeface="Liberation Sans"/>
                <a:cs typeface="Liberation Sans"/>
              </a:defRPr>
            </a:pPr>
            <a:r>
              <a:rPr sz="1125" b="0">
                <a:solidFill>
                  <a:srgbClr val="536671"/>
                </a:solidFill>
                <a:latin typeface="Liberation Sans"/>
                <a:ea typeface="Liberation Sans"/>
                <a:cs typeface="Liberation Sans"/>
              </a:rPr>
              <a:t>Cody Mitchell / FRG · October 18, 2026 · Public-data analysis</a:t>
            </a:r>
          </a:p>
        </p:txBody>
      </p:sp>
      <p:sp>
        <p:nvSpPr>
          <p:cNvPr id="4" name="">
            <a:extLst xmlns:a="http://schemas.openxmlformats.org/drawingml/2006/main">
              <a:ext uri="{FF2B5EF4-FFF2-40B4-BE49-F238E27FC236}">
                <a16:creationId xmlns:a16="http://schemas.microsoft.com/office/drawing/2014/main" id="{CA94E77E-C280-43AA-B052-132340D22585}"/>
              </a:ext>
            </a:extLst>
          </p:cNvPr>
          <p:cNvSpPr>
            <a:spLocks xmlns:a="http://schemas.openxmlformats.org/drawingml/2006/main" noGrp="1"/>
          </p:cNvSpPr>
          <p:nvPr/>
        </p:nvSpPr>
        <p:spPr>
          <a:xfrm xmlns:a="http://schemas.openxmlformats.org/drawingml/2006/main">
            <a:off x="11182350" y="63531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83"/>
                </a:solidFill>
                <a:latin typeface="Liberation Sans"/>
                <a:ea typeface="Liberation Sans"/>
                <a:cs typeface="Liberation Sans"/>
              </a:defRPr>
            </a:pPr>
            <a:r>
              <a:rPr sz="1350" b="1">
                <a:solidFill>
                  <a:srgbClr val="087F83"/>
                </a:solidFill>
                <a:latin typeface="Liberation Sans"/>
                <a:ea typeface="Liberation Sans"/>
                <a:cs typeface="Liberation Sans"/>
              </a:rPr>
              <a:t>2</a:t>
            </a:r>
          </a:p>
        </p:txBody>
      </p:sp>
      <p:sp>
        <p:nvSpPr>
          <p:cNvPr id="5" name="">
            <a:extLst xmlns:a="http://schemas.openxmlformats.org/drawingml/2006/main">
              <a:ext uri="{FF2B5EF4-FFF2-40B4-BE49-F238E27FC236}">
                <a16:creationId xmlns:a16="http://schemas.microsoft.com/office/drawing/2014/main" id="{85B10FFC-BC3B-418E-9DDB-130ABC699C69}"/>
              </a:ext>
            </a:extLst>
          </p:cNvPr>
          <p:cNvSpPr>
            <a:spLocks xmlns:a="http://schemas.openxmlformats.org/drawingml/2006/main" noGrp="1"/>
          </p:cNvSpPr>
          <p:nvPr/>
        </p:nvSpPr>
        <p:spPr>
          <a:xfrm xmlns:a="http://schemas.openxmlformats.org/drawingml/2006/main">
            <a:off x="609600" y="16668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3"/>
                </a:solidFill>
                <a:latin typeface="Liberation Sans"/>
                <a:ea typeface="Liberation Sans"/>
                <a:cs typeface="Liberation Sans"/>
              </a:defRPr>
            </a:pPr>
            <a:r>
              <a:rPr sz="2175" b="1">
                <a:solidFill>
                  <a:srgbClr val="087F83"/>
                </a:solidFill>
                <a:latin typeface="Liberation Sans"/>
                <a:ea typeface="Liberation Sans"/>
                <a:cs typeface="Liberation Sans"/>
              </a:rPr>
              <a:t>3,857 cells · 31,057 RNA genes · three multiplexed libraries</a:t>
            </a:r>
          </a:p>
        </p:txBody>
      </p:sp>
      <p:graphicFrame>
        <p:nvGraphicFramePr>
          <p:cNvPr id="14" name=""/>
          <p:cNvGraphicFramePr/>
          <p:nvPr/>
        </p:nvGraphicFramePr>
        <p:xfrm>
          <a:off xmlns:a="http://schemas.openxmlformats.org/drawingml/2006/main" x="609600" y="2343150"/>
          <a:ext xmlns:a="http://schemas.openxmlformats.org/drawingml/2006/main" cx="10972800" cy="2247900"/>
        </p:xfrm>
        <a:graphic xmlns:a="http://schemas.openxmlformats.org/drawingml/2006/main">
          <a:graphicData uri="http://schemas.openxmlformats.org/drawingml/2006/table">
            <a:tbl>
              <a:tblPr/>
              <a:tblGrid>
                <a:gridCol w="6477000"/>
                <a:gridCol w="2247900"/>
                <a:gridCol w="2247900"/>
              </a:tblGrid>
              <a:tr h="561975">
                <a:tc>
                  <a:txBody>
                    <a:bodyPr/>
                    <a:lstStyle/>
                    <a:p>
                      <a:r>
                        <a:rPr sz="1725" b="1">
                          <a:solidFill>
                            <a:srgbClr val="FFFFFF"/>
                          </a:solidFill>
                          <a:latin typeface="Liberation Sans"/>
                          <a:ea typeface="Liberation Sans"/>
                          <a:cs typeface="Liberation Sans"/>
                        </a:rPr>
                        <a:t>Cohort-2 group</a:t>
                      </a:r>
                    </a:p>
                  </a:txBody>
                  <a:tcPr marL="91440" marR="91440" marT="45720" marB="45720">
                    <a:solidFill>
                      <a:srgbClr val="087F83"/>
                    </a:solidFill>
                  </a:tcPr>
                </a:tc>
                <a:tc>
                  <a:txBody>
                    <a:bodyPr/>
                    <a:lstStyle/>
                    <a:p>
                      <a:r>
                        <a:rPr sz="1725" b="1">
                          <a:solidFill>
                            <a:srgbClr val="FFFFFF"/>
                          </a:solidFill>
                          <a:latin typeface="Liberation Sans"/>
                          <a:ea typeface="Liberation Sans"/>
                          <a:cs typeface="Liberation Sans"/>
                        </a:rPr>
                        <a:t>Animals</a:t>
                      </a:r>
                    </a:p>
                  </a:txBody>
                  <a:tcPr marL="91440" marR="91440" marT="45720" marB="45720">
                    <a:solidFill>
                      <a:srgbClr val="087F83"/>
                    </a:solidFill>
                  </a:tcPr>
                </a:tc>
                <a:tc>
                  <a:txBody>
                    <a:bodyPr/>
                    <a:lstStyle/>
                    <a:p>
                      <a:r>
                        <a:rPr sz="1725" b="1">
                          <a:solidFill>
                            <a:srgbClr val="FFFFFF"/>
                          </a:solidFill>
                          <a:latin typeface="Liberation Sans"/>
                          <a:ea typeface="Liberation Sans"/>
                          <a:cs typeface="Liberation Sans"/>
                        </a:rPr>
                        <a:t>Cells</a:t>
                      </a:r>
                    </a:p>
                  </a:txBody>
                  <a:tcPr marL="91440" marR="91440" marT="45720" marB="45720">
                    <a:solidFill>
                      <a:srgbClr val="087F83"/>
                    </a:solidFill>
                  </a:tcPr>
                </a:tc>
              </a:tr>
              <a:tr h="561975">
                <a:tc>
                  <a:txBody>
                    <a:bodyPr/>
                    <a:lstStyle/>
                    <a:p>
                      <a:r>
                        <a:rPr sz="1875" b="0">
                          <a:solidFill>
                            <a:srgbClr val="142E3A"/>
                          </a:solidFill>
                          <a:latin typeface="Liberation Sans"/>
                          <a:ea typeface="Liberation Sans"/>
                          <a:cs typeface="Liberation Sans"/>
                        </a:rPr>
                        <a:t>Old treated</a:t>
                      </a:r>
                    </a:p>
                  </a:txBody>
                  <a:tcPr marL="91440" marR="91440" marT="45720" marB="45720">
                    <a:solidFill>
                      <a:srgbClr val="EAF3F3"/>
                    </a:solidFill>
                  </a:tcPr>
                </a:tc>
                <a:tc>
                  <a:txBody>
                    <a:bodyPr/>
                    <a:lstStyle/>
                    <a:p>
                      <a:r>
                        <a:rPr sz="1875" b="0">
                          <a:solidFill>
                            <a:srgbClr val="142E3A"/>
                          </a:solidFill>
                          <a:latin typeface="Liberation Sans"/>
                          <a:ea typeface="Liberation Sans"/>
                          <a:cs typeface="Liberation Sans"/>
                        </a:rPr>
                        <a:t>2</a:t>
                      </a:r>
                    </a:p>
                  </a:txBody>
                  <a:tcPr marL="91440" marR="91440" marT="45720" marB="45720">
                    <a:solidFill>
                      <a:srgbClr val="EAF3F3"/>
                    </a:solidFill>
                  </a:tcPr>
                </a:tc>
                <a:tc>
                  <a:txBody>
                    <a:bodyPr/>
                    <a:lstStyle/>
                    <a:p>
                      <a:r>
                        <a:rPr sz="1875" b="0">
                          <a:solidFill>
                            <a:srgbClr val="142E3A"/>
                          </a:solidFill>
                          <a:latin typeface="Liberation Sans"/>
                          <a:ea typeface="Liberation Sans"/>
                          <a:cs typeface="Liberation Sans"/>
                        </a:rPr>
                        <a:t>732</a:t>
                      </a:r>
                    </a:p>
                  </a:txBody>
                  <a:tcPr marL="91440" marR="91440" marT="45720" marB="45720">
                    <a:solidFill>
                      <a:srgbClr val="EAF3F3"/>
                    </a:solidFill>
                  </a:tcPr>
                </a:tc>
              </a:tr>
              <a:tr h="561975">
                <a:tc>
                  <a:txBody>
                    <a:bodyPr/>
                    <a:lstStyle/>
                    <a:p>
                      <a:r>
                        <a:rPr sz="1875" b="0">
                          <a:solidFill>
                            <a:srgbClr val="142E3A"/>
                          </a:solidFill>
                          <a:latin typeface="Liberation Sans"/>
                          <a:ea typeface="Liberation Sans"/>
                          <a:cs typeface="Liberation Sans"/>
                        </a:rPr>
                        <a:t>Old untreated</a:t>
                      </a:r>
                    </a:p>
                  </a:txBody>
                  <a:tcPr marL="91440" marR="91440" marT="45720" marB="45720">
                    <a:solidFill>
                      <a:srgbClr val="FFFFFF"/>
                    </a:solidFill>
                  </a:tcPr>
                </a:tc>
                <a:tc>
                  <a:txBody>
                    <a:bodyPr/>
                    <a:lstStyle/>
                    <a:p>
                      <a:r>
                        <a:rPr sz="1875" b="0">
                          <a:solidFill>
                            <a:srgbClr val="142E3A"/>
                          </a:solidFill>
                          <a:latin typeface="Liberation Sans"/>
                          <a:ea typeface="Liberation Sans"/>
                          <a:cs typeface="Liberation Sans"/>
                        </a:rPr>
                        <a:t>3</a:t>
                      </a:r>
                    </a:p>
                  </a:txBody>
                  <a:tcPr marL="91440" marR="91440" marT="45720" marB="45720">
                    <a:solidFill>
                      <a:srgbClr val="FFFFFF"/>
                    </a:solidFill>
                  </a:tcPr>
                </a:tc>
                <a:tc>
                  <a:txBody>
                    <a:bodyPr/>
                    <a:lstStyle/>
                    <a:p>
                      <a:r>
                        <a:rPr sz="1875" b="0">
                          <a:solidFill>
                            <a:srgbClr val="142E3A"/>
                          </a:solidFill>
                          <a:latin typeface="Liberation Sans"/>
                          <a:ea typeface="Liberation Sans"/>
                          <a:cs typeface="Liberation Sans"/>
                        </a:rPr>
                        <a:t>1,254</a:t>
                      </a:r>
                    </a:p>
                  </a:txBody>
                  <a:tcPr marL="91440" marR="91440" marT="45720" marB="45720">
                    <a:solidFill>
                      <a:srgbClr val="FFFFFF"/>
                    </a:solidFill>
                  </a:tcPr>
                </a:tc>
              </a:tr>
              <a:tr h="561975">
                <a:tc>
                  <a:txBody>
                    <a:bodyPr/>
                    <a:lstStyle/>
                    <a:p>
                      <a:r>
                        <a:rPr sz="1875" b="0">
                          <a:solidFill>
                            <a:srgbClr val="142E3A"/>
                          </a:solidFill>
                          <a:latin typeface="Liberation Sans"/>
                          <a:ea typeface="Liberation Sans"/>
                          <a:cs typeface="Liberation Sans"/>
                        </a:rPr>
                        <a:t>Young untreated</a:t>
                      </a:r>
                    </a:p>
                  </a:txBody>
                  <a:tcPr marL="91440" marR="91440" marT="45720" marB="45720">
                    <a:solidFill>
                      <a:srgbClr val="EAF3F3"/>
                    </a:solidFill>
                  </a:tcPr>
                </a:tc>
                <a:tc>
                  <a:txBody>
                    <a:bodyPr/>
                    <a:lstStyle/>
                    <a:p>
                      <a:r>
                        <a:rPr sz="1875" b="0">
                          <a:solidFill>
                            <a:srgbClr val="142E3A"/>
                          </a:solidFill>
                          <a:latin typeface="Liberation Sans"/>
                          <a:ea typeface="Liberation Sans"/>
                          <a:cs typeface="Liberation Sans"/>
                        </a:rPr>
                        <a:t>2</a:t>
                      </a:r>
                    </a:p>
                  </a:txBody>
                  <a:tcPr marL="91440" marR="91440" marT="45720" marB="45720">
                    <a:solidFill>
                      <a:srgbClr val="EAF3F3"/>
                    </a:solidFill>
                  </a:tcPr>
                </a:tc>
                <a:tc>
                  <a:txBody>
                    <a:bodyPr/>
                    <a:lstStyle/>
                    <a:p>
                      <a:r>
                        <a:rPr sz="1875" b="0">
                          <a:solidFill>
                            <a:srgbClr val="142E3A"/>
                          </a:solidFill>
                          <a:latin typeface="Liberation Sans"/>
                          <a:ea typeface="Liberation Sans"/>
                          <a:cs typeface="Liberation Sans"/>
                        </a:rPr>
                        <a:t>1,871</a:t>
                      </a:r>
                    </a:p>
                  </a:txBody>
                  <a:tcPr marL="91440" marR="91440" marT="45720" marB="45720">
                    <a:solidFill>
                      <a:srgbClr val="EAF3F3"/>
                    </a:solidFill>
                  </a:tcPr>
                </a:tc>
              </a:tr>
            </a:tbl>
          </a:graphicData>
        </a:graphic>
      </p:graphicFrame>
      <p:sp>
        <p:nvSpPr>
          <p:cNvPr id="7" name="">
            <a:extLst xmlns:a="http://schemas.openxmlformats.org/drawingml/2006/main">
              <a:ext uri="{FF2B5EF4-FFF2-40B4-BE49-F238E27FC236}">
                <a16:creationId xmlns:a16="http://schemas.microsoft.com/office/drawing/2014/main" id="{A8FAE861-E66F-4FCB-A2AB-306860921F22}"/>
              </a:ext>
            </a:extLst>
          </p:cNvPr>
          <p:cNvSpPr>
            <a:spLocks xmlns:a="http://schemas.openxmlformats.org/drawingml/2006/main" noGrp="1"/>
          </p:cNvSpPr>
          <p:nvPr/>
        </p:nvSpPr>
        <p:spPr>
          <a:xfrm xmlns:a="http://schemas.openxmlformats.org/drawingml/2006/main">
            <a:off x="609600" y="48768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E3A"/>
                </a:solidFill>
                <a:latin typeface="Liberation Sans"/>
                <a:ea typeface="Liberation Sans"/>
                <a:cs typeface="Liberation Sans"/>
              </a:defRPr>
            </a:pPr>
            <a:r>
              <a:rPr sz="2025" b="0">
                <a:solidFill>
                  <a:srgbClr val="142E3A"/>
                </a:solidFill>
                <a:latin typeface="Liberation Sans"/>
                <a:ea typeface="Liberation Sans"/>
                <a:cs typeface="Liberation Sans"/>
              </a:rPr>
              <a:t>The deposited subset contains no withdrawal samples.</a:t>
            </a:r>
          </a:p>
          <a:p xmlns:a="http://schemas.openxmlformats.org/drawingml/2006/main">
            <a:pPr>
              <a:defRPr sz="2025" b="0">
                <a:solidFill>
                  <a:srgbClr val="142E3A"/>
                </a:solidFill>
                <a:latin typeface="Liberation Sans"/>
                <a:ea typeface="Liberation Sans"/>
                <a:cs typeface="Liberation Sans"/>
              </a:defRPr>
            </a:pPr>
            <a:r>
              <a:rPr sz="2025" b="0">
                <a:solidFill>
                  <a:srgbClr val="142E3A"/>
                </a:solidFill>
                <a:latin typeface="Liberation Sans"/>
                <a:ea typeface="Liberation Sans"/>
                <a:cs typeface="Liberation Sans"/>
              </a:rPr>
              <a:t>Both young animals occur in lane 3; 70 cells have unresolved cluster labels.</a:t>
            </a:r>
          </a:p>
        </p:txBody>
      </p:sp>
      <p:sp>
        <p:nvSpPr>
          <p:cNvPr id="8" name="">
            <a:extLst xmlns:a="http://schemas.openxmlformats.org/drawingml/2006/main">
              <a:ext uri="{FF2B5EF4-FFF2-40B4-BE49-F238E27FC236}">
                <a16:creationId xmlns:a16="http://schemas.microsoft.com/office/drawing/2014/main" id="{7C585833-6635-44F6-848E-3B081BE506C4}"/>
              </a:ext>
            </a:extLst>
          </p:cNvPr>
          <p:cNvSpPr>
            <a:spLocks xmlns:a="http://schemas.openxmlformats.org/drawingml/2006/main" noGrp="1"/>
          </p:cNvSpPr>
          <p:nvPr/>
        </p:nvSpPr>
        <p:spPr>
          <a:xfrm xmlns:a="http://schemas.openxmlformats.org/drawingml/2006/main">
            <a:off x="609600" y="578167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83"/>
                </a:solidFill>
                <a:latin typeface="Liberation Sans"/>
                <a:ea typeface="Liberation Sans"/>
                <a:cs typeface="Liberation Sans"/>
              </a:defRPr>
            </a:pPr>
            <a:r>
              <a:rPr sz="1725" b="1">
                <a:solidFill>
                  <a:srgbClr val="087F83"/>
                </a:solidFill>
                <a:latin typeface="Liberation Sans"/>
                <a:ea typeface="Liberation Sans"/>
                <a:cs typeface="Liberation Sans"/>
              </a:rPr>
              <a:t>Admission complete. Animal-level expression testing is the next step.</a:t>
            </a:r>
          </a:p>
        </p:txBody>
      </p:sp>
    </p:spTree>
    <p:extLst>
      <p:ext uri="{BB962C8B-B14F-4D97-AF65-F5344CB8AC3E}">
        <p14:creationId xmlns:p14="http://schemas.microsoft.com/office/powerpoint/2010/main" val="136470309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EF0F840-DC8A-4CB4-B186-9FDDF2351BCD}"/>
              </a:ext>
            </a:extLst>
          </p:cNvPr>
          <p:cNvSpPr>
            <a:spLocks xmlns:a="http://schemas.openxmlformats.org/drawingml/2006/main" noGrp="1"/>
          </p:cNvSpPr>
          <p:nvPr/>
        </p:nvSpPr>
        <p:spPr>
          <a:xfrm xmlns:a="http://schemas.openxmlformats.org/drawingml/2006/main">
            <a:off x="609600" y="514350"/>
            <a:ext cx="109728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42E3A"/>
                </a:solidFill>
                <a:latin typeface="Liberation Sans"/>
                <a:ea typeface="Liberation Sans"/>
                <a:cs typeface="Liberation Sans"/>
              </a:defRPr>
            </a:pPr>
            <a:r>
              <a:rPr sz="3150" b="1">
                <a:solidFill>
                  <a:srgbClr val="142E3A"/>
                </a:solidFill>
                <a:latin typeface="Liberation Sans"/>
                <a:ea typeface="Liberation Sans"/>
                <a:cs typeface="Liberation Sans"/>
              </a:rPr>
              <a:t>Balanced donors improve repeat detection in the simulation</a:t>
            </a:r>
          </a:p>
        </p:txBody>
      </p:sp>
      <p:sp>
        <p:nvSpPr>
          <p:cNvPr id="2" name="">
            <a:extLst xmlns:a="http://schemas.openxmlformats.org/drawingml/2006/main">
              <a:ext uri="{FF2B5EF4-FFF2-40B4-BE49-F238E27FC236}">
                <a16:creationId xmlns:a16="http://schemas.microsoft.com/office/drawing/2014/main" id="{623EA82E-3552-4CBF-ADA5-D7DB8287379D}"/>
              </a:ext>
            </a:extLst>
          </p:cNvPr>
          <p:cNvSpPr>
            <a:spLocks xmlns:a="http://schemas.openxmlformats.org/drawingml/2006/main" noGrp="1"/>
          </p:cNvSpPr>
          <p:nvPr/>
        </p:nvSpPr>
        <p:spPr>
          <a:xfrm xmlns:a="http://schemas.openxmlformats.org/drawingml/2006/main">
            <a:off x="609600" y="6229350"/>
            <a:ext cx="10972800" cy="9525"/>
          </a:xfrm>
          <a:prstGeom xmlns:a="http://schemas.openxmlformats.org/drawingml/2006/main" prst="rect">
            <a:avLst/>
          </a:prstGeom>
          <a:solidFill xmlns:a="http://schemas.openxmlformats.org/drawingml/2006/main">
            <a:srgbClr val="CFDDD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8853855-F041-4E7A-8D47-355A03EE3536}"/>
              </a:ext>
            </a:extLst>
          </p:cNvPr>
          <p:cNvSpPr>
            <a:spLocks xmlns:a="http://schemas.openxmlformats.org/drawingml/2006/main" noGrp="1"/>
          </p:cNvSpPr>
          <p:nvPr/>
        </p:nvSpPr>
        <p:spPr>
          <a:xfrm xmlns:a="http://schemas.openxmlformats.org/drawingml/2006/main">
            <a:off x="609600" y="6381750"/>
            <a:ext cx="10287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671"/>
                </a:solidFill>
                <a:latin typeface="Liberation Sans"/>
                <a:ea typeface="Liberation Sans"/>
                <a:cs typeface="Liberation Sans"/>
              </a:defRPr>
            </a:pPr>
            <a:r>
              <a:rPr sz="1125" b="0">
                <a:solidFill>
                  <a:srgbClr val="536671"/>
                </a:solidFill>
                <a:latin typeface="Liberation Sans"/>
                <a:ea typeface="Liberation Sans"/>
                <a:cs typeface="Liberation Sans"/>
              </a:rPr>
              <a:t>Cody Mitchell / FRG · October 18, 2026 · Public-data analysis</a:t>
            </a:r>
          </a:p>
        </p:txBody>
      </p:sp>
      <p:sp>
        <p:nvSpPr>
          <p:cNvPr id="4" name="">
            <a:extLst xmlns:a="http://schemas.openxmlformats.org/drawingml/2006/main">
              <a:ext uri="{FF2B5EF4-FFF2-40B4-BE49-F238E27FC236}">
                <a16:creationId xmlns:a16="http://schemas.microsoft.com/office/drawing/2014/main" id="{50EB1C7B-7CD0-41E8-92A8-A3448BDF60E6}"/>
              </a:ext>
            </a:extLst>
          </p:cNvPr>
          <p:cNvSpPr>
            <a:spLocks xmlns:a="http://schemas.openxmlformats.org/drawingml/2006/main" noGrp="1"/>
          </p:cNvSpPr>
          <p:nvPr/>
        </p:nvSpPr>
        <p:spPr>
          <a:xfrm xmlns:a="http://schemas.openxmlformats.org/drawingml/2006/main">
            <a:off x="11182350" y="63531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83"/>
                </a:solidFill>
                <a:latin typeface="Liberation Sans"/>
                <a:ea typeface="Liberation Sans"/>
                <a:cs typeface="Liberation Sans"/>
              </a:defRPr>
            </a:pPr>
            <a:r>
              <a:rPr sz="1350" b="1">
                <a:solidFill>
                  <a:srgbClr val="087F83"/>
                </a:solidFill>
                <a:latin typeface="Liberation Sans"/>
                <a:ea typeface="Liberation Sans"/>
                <a:cs typeface="Liberation Sans"/>
              </a:rPr>
              <a:t>3</a:t>
            </a:r>
          </a:p>
        </p:txBody>
      </p:sp>
      <p:graphicFrame>
        <p:nvGraphicFramePr>
          <p:cNvPr id="13" name="Chart"/>
          <p:cNvGraphicFramePr/>
          <p:nvPr/>
        </p:nvGraphicFramePr>
        <p:xfrm>
          <a:off xmlns:a="http://schemas.openxmlformats.org/drawingml/2006/main" x="609600" y="1781175"/>
          <a:ext xmlns:a="http://schemas.openxmlformats.org/drawingml/2006/main" cx="7620000" cy="3333750"/>
        </p:xfrm>
        <a:graphic xmlns:a="http://schemas.openxmlformats.org/drawingml/2006/main">
          <a:graphicData uri="http://schemas.openxmlformats.org/drawingml/2006/chart">
            <c:chart xmlns:r="http://schemas.openxmlformats.org/officeDocument/2006/relationships" xmlns:c="http://schemas.openxmlformats.org/drawingml/2006/chart" r:id="Rd1c47ed9e7684db9"/>
          </a:graphicData>
        </a:graphic>
      </p:graphicFrame>
      <p:sp>
        <p:nvSpPr>
          <p:cNvPr id="6" name="">
            <a:extLst xmlns:a="http://schemas.openxmlformats.org/drawingml/2006/main">
              <a:ext uri="{FF2B5EF4-FFF2-40B4-BE49-F238E27FC236}">
                <a16:creationId xmlns:a16="http://schemas.microsoft.com/office/drawing/2014/main" id="{A90DEB84-85F4-44A7-B662-B3D3B99E0F25}"/>
              </a:ext>
            </a:extLst>
          </p:cNvPr>
          <p:cNvSpPr>
            <a:spLocks xmlns:a="http://schemas.openxmlformats.org/drawingml/2006/main" noGrp="1"/>
          </p:cNvSpPr>
          <p:nvPr/>
        </p:nvSpPr>
        <p:spPr>
          <a:xfrm xmlns:a="http://schemas.openxmlformats.org/drawingml/2006/main">
            <a:off x="8591550" y="1885950"/>
            <a:ext cx="29527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E3A"/>
                </a:solidFill>
                <a:latin typeface="Liberation Sans"/>
                <a:ea typeface="Liberation Sans"/>
                <a:cs typeface="Liberation Sans"/>
              </a:defRPr>
            </a:pPr>
            <a:r>
              <a:rPr sz="1800" b="0">
                <a:solidFill>
                  <a:srgbClr val="142E3A"/>
                </a:solidFill>
                <a:latin typeface="Liberation Sans"/>
                <a:ea typeface="Liberation Sans"/>
                <a:cs typeface="Liberation Sans"/>
              </a:rPr>
              <a:t>1,200 cells</a:t>
            </a:r>
          </a:p>
          <a:p xmlns:a="http://schemas.openxmlformats.org/drawingml/2006/main">
            <a:r>
              <a:t/>
            </a:r>
          </a:p>
          <a:p xmlns:a="http://schemas.openxmlformats.org/drawingml/2006/main">
            <a:pPr>
              <a:defRPr sz="1800" b="0">
                <a:solidFill>
                  <a:srgbClr val="142E3A"/>
                </a:solidFill>
                <a:latin typeface="Liberation Sans"/>
                <a:ea typeface="Liberation Sans"/>
                <a:cs typeface="Liberation Sans"/>
              </a:defRPr>
            </a:pPr>
            <a:r>
              <a:rPr sz="1800" b="0">
                <a:solidFill>
                  <a:srgbClr val="142E3A"/>
                </a:solidFill>
                <a:latin typeface="Liberation Sans"/>
                <a:ea typeface="Liberation Sans"/>
                <a:cs typeface="Liberation Sans"/>
              </a:rPr>
              <a:t>Assumed prevalence: 1%</a:t>
            </a:r>
          </a:p>
          <a:p xmlns:a="http://schemas.openxmlformats.org/drawingml/2006/main">
            <a:pPr>
              <a:defRPr sz="1800" b="0">
                <a:solidFill>
                  <a:srgbClr val="142E3A"/>
                </a:solidFill>
                <a:latin typeface="Liberation Sans"/>
                <a:ea typeface="Liberation Sans"/>
                <a:cs typeface="Liberation Sans"/>
              </a:defRPr>
            </a:pPr>
            <a:r>
              <a:rPr sz="1800" b="0">
                <a:solidFill>
                  <a:srgbClr val="142E3A"/>
                </a:solidFill>
                <a:latin typeface="Liberation Sans"/>
                <a:ea typeface="Liberation Sans"/>
                <a:cs typeface="Liberation Sans"/>
              </a:rPr>
              <a:t>Sensitivity: 80%</a:t>
            </a:r>
          </a:p>
          <a:p xmlns:a="http://schemas.openxmlformats.org/drawingml/2006/main">
            <a:pPr>
              <a:defRPr sz="1800" b="0">
                <a:solidFill>
                  <a:srgbClr val="142E3A"/>
                </a:solidFill>
                <a:latin typeface="Liberation Sans"/>
                <a:ea typeface="Liberation Sans"/>
                <a:cs typeface="Liberation Sans"/>
              </a:defRPr>
            </a:pPr>
            <a:r>
              <a:rPr sz="1800" b="0">
                <a:solidFill>
                  <a:srgbClr val="142E3A"/>
                </a:solidFill>
                <a:latin typeface="Liberation Sans"/>
                <a:ea typeface="Liberation Sans"/>
                <a:cs typeface="Liberation Sans"/>
              </a:rPr>
              <a:t>Specificity: 100%</a:t>
            </a:r>
          </a:p>
          <a:p xmlns:a="http://schemas.openxmlformats.org/drawingml/2006/main">
            <a:pPr>
              <a:defRPr sz="1800" b="0">
                <a:solidFill>
                  <a:srgbClr val="142E3A"/>
                </a:solidFill>
                <a:latin typeface="Liberation Sans"/>
                <a:ea typeface="Liberation Sans"/>
                <a:cs typeface="Liberation Sans"/>
              </a:defRPr>
            </a:pPr>
            <a:r>
              <a:rPr sz="1800" b="0">
                <a:solidFill>
                  <a:srgbClr val="142E3A"/>
                </a:solidFill>
                <a:latin typeface="Liberation Sans"/>
                <a:ea typeface="Liberation Sans"/>
                <a:cs typeface="Liberation Sans"/>
              </a:rPr>
              <a:t>Donor correlation: 0.05</a:t>
            </a:r>
          </a:p>
        </p:txBody>
      </p:sp>
      <p:sp>
        <p:nvSpPr>
          <p:cNvPr id="7" name="">
            <a:extLst xmlns:a="http://schemas.openxmlformats.org/drawingml/2006/main">
              <a:ext uri="{FF2B5EF4-FFF2-40B4-BE49-F238E27FC236}">
                <a16:creationId xmlns:a16="http://schemas.microsoft.com/office/drawing/2014/main" id="{347FA898-FC50-47B3-95ED-AE9430BB7CD6}"/>
              </a:ext>
            </a:extLst>
          </p:cNvPr>
          <p:cNvSpPr>
            <a:spLocks xmlns:a="http://schemas.openxmlformats.org/drawingml/2006/main" noGrp="1"/>
          </p:cNvSpPr>
          <p:nvPr/>
        </p:nvSpPr>
        <p:spPr>
          <a:xfrm xmlns:a="http://schemas.openxmlformats.org/drawingml/2006/main">
            <a:off x="8591550" y="4953000"/>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9B5D22"/>
                </a:solidFill>
                <a:latin typeface="Liberation Sans"/>
                <a:ea typeface="Liberation Sans"/>
                <a:cs typeface="Liberation Sans"/>
              </a:defRPr>
            </a:pPr>
            <a:r>
              <a:rPr sz="2100" b="1">
                <a:solidFill>
                  <a:srgbClr val="9B5D22"/>
                </a:solidFill>
                <a:latin typeface="Liberation Sans"/>
                <a:ea typeface="Liberation Sans"/>
                <a:cs typeface="Liberation Sans"/>
              </a:rPr>
              <a:t>Synthetic only</a:t>
            </a:r>
          </a:p>
        </p:txBody>
      </p:sp>
      <p:sp>
        <p:nvSpPr>
          <p:cNvPr id="8" name="">
            <a:extLst xmlns:a="http://schemas.openxmlformats.org/drawingml/2006/main">
              <a:ext uri="{FF2B5EF4-FFF2-40B4-BE49-F238E27FC236}">
                <a16:creationId xmlns:a16="http://schemas.microsoft.com/office/drawing/2014/main" id="{AFA478DF-CDF0-4B4B-BE71-9CADCDE5824B}"/>
              </a:ext>
            </a:extLst>
          </p:cNvPr>
          <p:cNvSpPr>
            <a:spLocks xmlns:a="http://schemas.openxmlformats.org/drawingml/2006/main" noGrp="1"/>
          </p:cNvSpPr>
          <p:nvPr/>
        </p:nvSpPr>
        <p:spPr>
          <a:xfrm xmlns:a="http://schemas.openxmlformats.org/drawingml/2006/main">
            <a:off x="609600" y="551497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671"/>
                </a:solidFill>
                <a:latin typeface="Liberation Sans"/>
                <a:ea typeface="Liberation Sans"/>
                <a:cs typeface="Liberation Sans"/>
              </a:defRPr>
            </a:pPr>
            <a:r>
              <a:rPr sz="1725" b="0">
                <a:solidFill>
                  <a:srgbClr val="536671"/>
                </a:solidFill>
                <a:latin typeface="Liberation Sans"/>
                <a:ea typeface="Liberation Sans"/>
                <a:cs typeface="Liberation Sans"/>
              </a:rPr>
              <a:t>Probability of flags (%). With no true states and 99.9% specificity, six balanced donors</a:t>
            </a:r>
          </a:p>
          <a:p xmlns:a="http://schemas.openxmlformats.org/drawingml/2006/main">
            <a:pPr>
              <a:defRPr sz="1725" b="0">
                <a:solidFill>
                  <a:srgbClr val="536671"/>
                </a:solidFill>
                <a:latin typeface="Liberation Sans"/>
                <a:ea typeface="Liberation Sans"/>
                <a:cs typeface="Liberation Sans"/>
              </a:defRPr>
            </a:pPr>
            <a:r>
              <a:rPr sz="1725" b="0">
                <a:solidFill>
                  <a:srgbClr val="536671"/>
                </a:solidFill>
                <a:latin typeface="Liberation Sans"/>
                <a:ea typeface="Liberation Sans"/>
                <a:cs typeface="Liberation Sans"/>
              </a:rPr>
              <a:t>still produce a 29.9% chance of flags in two donors under independent errors.</a:t>
            </a:r>
          </a:p>
        </p:txBody>
      </p:sp>
    </p:spTree>
    <p:extLst>
      <p:ext uri="{BB962C8B-B14F-4D97-AF65-F5344CB8AC3E}">
        <p14:creationId xmlns:p14="http://schemas.microsoft.com/office/powerpoint/2010/main" val="209013945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DE87ECD-2A0C-4794-96DC-6006932FD3B8}"/>
              </a:ext>
            </a:extLst>
          </p:cNvPr>
          <p:cNvSpPr>
            <a:spLocks xmlns:a="http://schemas.openxmlformats.org/drawingml/2006/main" noGrp="1"/>
          </p:cNvSpPr>
          <p:nvPr/>
        </p:nvSpPr>
        <p:spPr>
          <a:xfrm xmlns:a="http://schemas.openxmlformats.org/drawingml/2006/main">
            <a:off x="609600" y="514350"/>
            <a:ext cx="109728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42E3A"/>
                </a:solidFill>
                <a:latin typeface="Liberation Sans"/>
                <a:ea typeface="Liberation Sans"/>
                <a:cs typeface="Liberation Sans"/>
              </a:defRPr>
            </a:pPr>
            <a:r>
              <a:rPr sz="3150" b="1">
                <a:solidFill>
                  <a:srgbClr val="142E3A"/>
                </a:solidFill>
                <a:latin typeface="Liberation Sans"/>
                <a:ea typeface="Liberation Sans"/>
                <a:cs typeface="Liberation Sans"/>
              </a:rPr>
              <a:t>The next analysis and the remaining measurement</a:t>
            </a:r>
          </a:p>
        </p:txBody>
      </p:sp>
      <p:sp>
        <p:nvSpPr>
          <p:cNvPr id="2" name="">
            <a:extLst xmlns:a="http://schemas.openxmlformats.org/drawingml/2006/main">
              <a:ext uri="{FF2B5EF4-FFF2-40B4-BE49-F238E27FC236}">
                <a16:creationId xmlns:a16="http://schemas.microsoft.com/office/drawing/2014/main" id="{F7DCEEEA-AA56-4BB2-AAFF-9745E8071DA7}"/>
              </a:ext>
            </a:extLst>
          </p:cNvPr>
          <p:cNvSpPr>
            <a:spLocks xmlns:a="http://schemas.openxmlformats.org/drawingml/2006/main" noGrp="1"/>
          </p:cNvSpPr>
          <p:nvPr/>
        </p:nvSpPr>
        <p:spPr>
          <a:xfrm xmlns:a="http://schemas.openxmlformats.org/drawingml/2006/main">
            <a:off x="609600" y="6229350"/>
            <a:ext cx="10972800" cy="9525"/>
          </a:xfrm>
          <a:prstGeom xmlns:a="http://schemas.openxmlformats.org/drawingml/2006/main" prst="rect">
            <a:avLst/>
          </a:prstGeom>
          <a:solidFill xmlns:a="http://schemas.openxmlformats.org/drawingml/2006/main">
            <a:srgbClr val="CFDDD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906DBEB-0AD3-40AC-BF26-06107145F512}"/>
              </a:ext>
            </a:extLst>
          </p:cNvPr>
          <p:cNvSpPr>
            <a:spLocks xmlns:a="http://schemas.openxmlformats.org/drawingml/2006/main" noGrp="1"/>
          </p:cNvSpPr>
          <p:nvPr/>
        </p:nvSpPr>
        <p:spPr>
          <a:xfrm xmlns:a="http://schemas.openxmlformats.org/drawingml/2006/main">
            <a:off x="609600" y="6381750"/>
            <a:ext cx="10287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671"/>
                </a:solidFill>
                <a:latin typeface="Liberation Sans"/>
                <a:ea typeface="Liberation Sans"/>
                <a:cs typeface="Liberation Sans"/>
              </a:defRPr>
            </a:pPr>
            <a:r>
              <a:rPr sz="1125" b="0">
                <a:solidFill>
                  <a:srgbClr val="536671"/>
                </a:solidFill>
                <a:latin typeface="Liberation Sans"/>
                <a:ea typeface="Liberation Sans"/>
                <a:cs typeface="Liberation Sans"/>
              </a:rPr>
              <a:t>Cody Mitchell / FRG · October 18, 2026 · Public-data analysis</a:t>
            </a:r>
          </a:p>
        </p:txBody>
      </p:sp>
      <p:sp>
        <p:nvSpPr>
          <p:cNvPr id="4" name="">
            <a:extLst xmlns:a="http://schemas.openxmlformats.org/drawingml/2006/main">
              <a:ext uri="{FF2B5EF4-FFF2-40B4-BE49-F238E27FC236}">
                <a16:creationId xmlns:a16="http://schemas.microsoft.com/office/drawing/2014/main" id="{30DAE667-B5F7-478C-A249-C2BF2F43942C}"/>
              </a:ext>
            </a:extLst>
          </p:cNvPr>
          <p:cNvSpPr>
            <a:spLocks xmlns:a="http://schemas.openxmlformats.org/drawingml/2006/main" noGrp="1"/>
          </p:cNvSpPr>
          <p:nvPr/>
        </p:nvSpPr>
        <p:spPr>
          <a:xfrm xmlns:a="http://schemas.openxmlformats.org/drawingml/2006/main">
            <a:off x="11182350" y="63531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83"/>
                </a:solidFill>
                <a:latin typeface="Liberation Sans"/>
                <a:ea typeface="Liberation Sans"/>
                <a:cs typeface="Liberation Sans"/>
              </a:defRPr>
            </a:pPr>
            <a:r>
              <a:rPr sz="1350" b="1">
                <a:solidFill>
                  <a:srgbClr val="087F83"/>
                </a:solidFill>
                <a:latin typeface="Liberation Sans"/>
                <a:ea typeface="Liberation Sans"/>
                <a:cs typeface="Liberation Sans"/>
              </a:rPr>
              <a:t>4</a:t>
            </a:r>
          </a:p>
        </p:txBody>
      </p:sp>
      <p:sp>
        <p:nvSpPr>
          <p:cNvPr id="5" name="">
            <a:extLst xmlns:a="http://schemas.openxmlformats.org/drawingml/2006/main">
              <a:ext uri="{FF2B5EF4-FFF2-40B4-BE49-F238E27FC236}">
                <a16:creationId xmlns:a16="http://schemas.microsoft.com/office/drawing/2014/main" id="{A97FCC5E-0024-444A-A1C6-42C23DD39C8D}"/>
              </a:ext>
            </a:extLst>
          </p:cNvPr>
          <p:cNvSpPr>
            <a:spLocks xmlns:a="http://schemas.openxmlformats.org/drawingml/2006/main" noGrp="1"/>
          </p:cNvSpPr>
          <p:nvPr/>
        </p:nvSpPr>
        <p:spPr>
          <a:xfrm xmlns:a="http://schemas.openxmlformats.org/drawingml/2006/main">
            <a:off x="609600" y="1943100"/>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F83"/>
                </a:solidFill>
                <a:latin typeface="Liberation Sans"/>
                <a:ea typeface="Liberation Sans"/>
                <a:cs typeface="Liberation Sans"/>
              </a:defRPr>
            </a:pPr>
            <a:r>
              <a:rPr sz="2100" b="1">
                <a:solidFill>
                  <a:srgbClr val="087F83"/>
                </a:solidFill>
                <a:latin typeface="Liberation Sans"/>
                <a:ea typeface="Liberation Sans"/>
                <a:cs typeface="Liberation Sans"/>
              </a:rPr>
              <a:t>Next computation</a:t>
            </a:r>
          </a:p>
        </p:txBody>
      </p:sp>
      <p:sp>
        <p:nvSpPr>
          <p:cNvPr id="6" name="">
            <a:extLst xmlns:a="http://schemas.openxmlformats.org/drawingml/2006/main">
              <a:ext uri="{FF2B5EF4-FFF2-40B4-BE49-F238E27FC236}">
                <a16:creationId xmlns:a16="http://schemas.microsoft.com/office/drawing/2014/main" id="{E19674B3-3AED-49F4-B437-FC8BDB21D4ED}"/>
              </a:ext>
            </a:extLst>
          </p:cNvPr>
          <p:cNvSpPr>
            <a:spLocks xmlns:a="http://schemas.openxmlformats.org/drawingml/2006/main" noGrp="1"/>
          </p:cNvSpPr>
          <p:nvPr/>
        </p:nvSpPr>
        <p:spPr>
          <a:xfrm xmlns:a="http://schemas.openxmlformats.org/drawingml/2006/main">
            <a:off x="3952875" y="1943100"/>
            <a:ext cx="7572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E3A"/>
                </a:solidFill>
                <a:latin typeface="Liberation Sans"/>
                <a:ea typeface="Liberation Sans"/>
                <a:cs typeface="Liberation Sans"/>
              </a:defRPr>
            </a:pPr>
            <a:r>
              <a:rPr sz="2025" b="0">
                <a:solidFill>
                  <a:srgbClr val="142E3A"/>
                </a:solidFill>
                <a:latin typeface="Liberation Sans"/>
                <a:ea typeface="Liberation Sans"/>
                <a:cs typeface="Liberation Sans"/>
              </a:rPr>
              <a:t>Animal-level neural expression and composition, with lane sensitivity and a cohort-1 replication audit.</a:t>
            </a:r>
          </a:p>
        </p:txBody>
      </p:sp>
      <p:sp>
        <p:nvSpPr>
          <p:cNvPr id="7" name="">
            <a:extLst xmlns:a="http://schemas.openxmlformats.org/drawingml/2006/main">
              <a:ext uri="{FF2B5EF4-FFF2-40B4-BE49-F238E27FC236}">
                <a16:creationId xmlns:a16="http://schemas.microsoft.com/office/drawing/2014/main" id="{27914E00-A014-480C-A7F0-21535ACD2B5C}"/>
              </a:ext>
            </a:extLst>
          </p:cNvPr>
          <p:cNvSpPr>
            <a:spLocks xmlns:a="http://schemas.openxmlformats.org/drawingml/2006/main" noGrp="1"/>
          </p:cNvSpPr>
          <p:nvPr/>
        </p:nvSpPr>
        <p:spPr>
          <a:xfrm xmlns:a="http://schemas.openxmlformats.org/drawingml/2006/main">
            <a:off x="609600" y="3048000"/>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F83"/>
                </a:solidFill>
                <a:latin typeface="Liberation Sans"/>
                <a:ea typeface="Liberation Sans"/>
                <a:cs typeface="Liberation Sans"/>
              </a:defRPr>
            </a:pPr>
            <a:r>
              <a:rPr sz="2100" b="1">
                <a:solidFill>
                  <a:srgbClr val="087F83"/>
                </a:solidFill>
                <a:latin typeface="Liberation Sans"/>
                <a:ea typeface="Liberation Sans"/>
                <a:cs typeface="Liberation Sans"/>
              </a:rPr>
              <a:t>Pending source inputs</a:t>
            </a:r>
          </a:p>
        </p:txBody>
      </p:sp>
      <p:sp>
        <p:nvSpPr>
          <p:cNvPr id="8" name="">
            <a:extLst xmlns:a="http://schemas.openxmlformats.org/drawingml/2006/main">
              <a:ext uri="{FF2B5EF4-FFF2-40B4-BE49-F238E27FC236}">
                <a16:creationId xmlns:a16="http://schemas.microsoft.com/office/drawing/2014/main" id="{F246B56D-ECF4-466C-9ECC-703F8D60A35D}"/>
              </a:ext>
            </a:extLst>
          </p:cNvPr>
          <p:cNvSpPr>
            <a:spLocks xmlns:a="http://schemas.openxmlformats.org/drawingml/2006/main" noGrp="1"/>
          </p:cNvSpPr>
          <p:nvPr/>
        </p:nvSpPr>
        <p:spPr>
          <a:xfrm xmlns:a="http://schemas.openxmlformats.org/drawingml/2006/main">
            <a:off x="3952875" y="3048000"/>
            <a:ext cx="7572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E3A"/>
                </a:solidFill>
                <a:latin typeface="Liberation Sans"/>
                <a:ea typeface="Liberation Sans"/>
                <a:cs typeface="Liberation Sans"/>
              </a:defRPr>
            </a:pPr>
            <a:r>
              <a:rPr sz="2025" b="0">
                <a:solidFill>
                  <a:srgbClr val="142E3A"/>
                </a:solidFill>
                <a:latin typeface="Liberation Sans"/>
                <a:ea typeface="Liberation Sans"/>
                <a:cs typeface="Liberation Sans"/>
              </a:rPr>
              <a:t>Reconcile clock, sample and guide metadata when the requested artifacts arrive.</a:t>
            </a:r>
          </a:p>
        </p:txBody>
      </p:sp>
      <p:sp>
        <p:nvSpPr>
          <p:cNvPr id="9" name="">
            <a:extLst xmlns:a="http://schemas.openxmlformats.org/drawingml/2006/main">
              <a:ext uri="{FF2B5EF4-FFF2-40B4-BE49-F238E27FC236}">
                <a16:creationId xmlns:a16="http://schemas.microsoft.com/office/drawing/2014/main" id="{F9CFB271-7E7F-4A61-87E8-B7FBA3189425}"/>
              </a:ext>
            </a:extLst>
          </p:cNvPr>
          <p:cNvSpPr>
            <a:spLocks xmlns:a="http://schemas.openxmlformats.org/drawingml/2006/main" noGrp="1"/>
          </p:cNvSpPr>
          <p:nvPr/>
        </p:nvSpPr>
        <p:spPr>
          <a:xfrm xmlns:a="http://schemas.openxmlformats.org/drawingml/2006/main">
            <a:off x="609600" y="4152900"/>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F83"/>
                </a:solidFill>
                <a:latin typeface="Liberation Sans"/>
                <a:ea typeface="Liberation Sans"/>
                <a:cs typeface="Liberation Sans"/>
              </a:defRPr>
            </a:pPr>
            <a:r>
              <a:rPr sz="2100" b="1">
                <a:solidFill>
                  <a:srgbClr val="087F83"/>
                </a:solidFill>
                <a:latin typeface="Liberation Sans"/>
                <a:ea typeface="Liberation Sans"/>
                <a:cs typeface="Liberation Sans"/>
              </a:rPr>
              <a:t>Biological gap</a:t>
            </a:r>
          </a:p>
        </p:txBody>
      </p:sp>
      <p:sp>
        <p:nvSpPr>
          <p:cNvPr id="10" name="">
            <a:extLst xmlns:a="http://schemas.openxmlformats.org/drawingml/2006/main">
              <a:ext uri="{FF2B5EF4-FFF2-40B4-BE49-F238E27FC236}">
                <a16:creationId xmlns:a16="http://schemas.microsoft.com/office/drawing/2014/main" id="{A6C2FA5E-5EA9-4423-BB0C-33D8408A0746}"/>
              </a:ext>
            </a:extLst>
          </p:cNvPr>
          <p:cNvSpPr>
            <a:spLocks xmlns:a="http://schemas.openxmlformats.org/drawingml/2006/main" noGrp="1"/>
          </p:cNvSpPr>
          <p:nvPr/>
        </p:nvSpPr>
        <p:spPr>
          <a:xfrm xmlns:a="http://schemas.openxmlformats.org/drawingml/2006/main">
            <a:off x="3952875" y="4152900"/>
            <a:ext cx="7572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E3A"/>
                </a:solidFill>
                <a:latin typeface="Liberation Sans"/>
                <a:ea typeface="Liberation Sans"/>
                <a:cs typeface="Liberation Sans"/>
              </a:defRPr>
            </a:pPr>
            <a:r>
              <a:rPr sz="2025" b="0">
                <a:solidFill>
                  <a:srgbClr val="142E3A"/>
                </a:solidFill>
                <a:latin typeface="Liberation Sans"/>
                <a:ea typeface="Liberation Sans"/>
                <a:cs typeface="Liberation Sans"/>
              </a:rPr>
              <a:t>Matched late human identity, calibrated unusual-state detection, withdrawal stability and trajectory continuity.</a:t>
            </a:r>
          </a:p>
        </p:txBody>
      </p:sp>
      <p:sp>
        <p:nvSpPr>
          <p:cNvPr id="11" name="">
            <a:extLst xmlns:a="http://schemas.openxmlformats.org/drawingml/2006/main">
              <a:ext uri="{FF2B5EF4-FFF2-40B4-BE49-F238E27FC236}">
                <a16:creationId xmlns:a16="http://schemas.microsoft.com/office/drawing/2014/main" id="{A14B24C7-5FA6-4DEF-8EEB-42E4629A737C}"/>
              </a:ext>
            </a:extLst>
          </p:cNvPr>
          <p:cNvSpPr>
            <a:spLocks xmlns:a="http://schemas.openxmlformats.org/drawingml/2006/main" noGrp="1"/>
          </p:cNvSpPr>
          <p:nvPr/>
        </p:nvSpPr>
        <p:spPr>
          <a:xfrm xmlns:a="http://schemas.openxmlformats.org/drawingml/2006/main">
            <a:off x="609600" y="5391150"/>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9B5D22"/>
                </a:solidFill>
                <a:latin typeface="Liberation Sans"/>
                <a:ea typeface="Liberation Sans"/>
                <a:cs typeface="Liberation Sans"/>
              </a:defRPr>
            </a:pPr>
            <a:r>
              <a:rPr sz="1875" b="1">
                <a:solidFill>
                  <a:srgbClr val="9B5D22"/>
                </a:solidFill>
                <a:latin typeface="Liberation Sans"/>
                <a:ea typeface="Liberation Sans"/>
                <a:cs typeface="Liberation Sans"/>
              </a:rPr>
              <a:t>All four readouts remain insufficient_signal. Experiment replacement: INCONCLUSIVE.</a:t>
            </a:r>
          </a:p>
        </p:txBody>
      </p:sp>
    </p:spTree>
    <p:extLst>
      <p:ext uri="{BB962C8B-B14F-4D97-AF65-F5344CB8AC3E}">
        <p14:creationId xmlns:p14="http://schemas.microsoft.com/office/powerpoint/2010/main" val="5656540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2026-10-18T05:33:59.1230000Z</dcterms:created>
  <dcterms:modified xsi:type="dcterms:W3CDTF">2026-10-18T05:33:59.1230000Z</dcterms:modified>
</coreProperties>
</file>